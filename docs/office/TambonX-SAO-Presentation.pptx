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ัญหา" id="{f6815a48-77fb-b980-65c2-e61166fe33c1}">
          <p14:sldIdLst>
            <p14:sldId id="256"/>
            <p14:sldId id="257"/>
          </p14:sldIdLst>
        </p14:section>
        <p14:section name="TambonX" id="{2223fced-8012-c91e-3efe-6010c52aa367}">
          <p14:sldIdLst>
            <p14:sldId id="258"/>
            <p14:sldId id="259"/>
          </p14:sldIdLst>
        </p14:section>
        <p14:section name="ทุกกองใช้ร่วมกัน" id="{af351291-976b-9a26-a834-5fbcba9078c9}">
          <p14:sldIdLst>
            <p14:sldId id="260"/>
            <p14:sldId id="261"/>
            <p14:sldId id="262"/>
          </p14:sldIdLst>
        </p14:section>
        <p14:section name="ตัวอย่างการใช้งาน" id="{cbc3f4e4-3135-6ddd-4c8e-991cf3f991cc}">
          <p14:sldIdLst>
            <p14:sldId id="263"/>
            <p14:sldId id="264"/>
            <p14:sldId id="265"/>
          </p14:sldIdLst>
        </p14:section>
        <p14:section name="เริ่มใช้งาน" id="{75b1f94a-6a63-bbc6-fdbe-ddaecbd124e4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เปิดด้วยคำถาม: ถ้านายกฯ ถามตอนนี้ว่าหมู่ 3 มีกี่ครัวเรือน และมีเรือท้องแบนพร้อมใช้กี่ลำ เราใช้เวลาตอบกี่นาที? TambonX ทำให้ตอบได้ในไม่กี่วินาที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ชี้ให้เห็นว่าข้อมูลมีอยู่แล้วในแต่ละกอง ปัญหาคือไม่ได้อยู่ที่เดียวกัน และไม่ได้ผูกกับพื้นที่จริง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เปิดผ่านเว็บเบราว์เซอร์ ไม่ต้องติดตั้งโปรแกรม ทุกข้อมูลผูกกับขอบเขตตำบลและหมู่บ้านจริงจาก GISTDA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ภาพจากระบบจริง ข้อมูลตัวอย่าง อบต.ป่ากลาง จ.น่าน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สไลด์คั่น: ต่อไปจะเห็นว่าแต่ละกองได้สถิติอะไรจากข้อมูลชุดเดียวกัน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แต่ละการ์ดคือกองหนึ่ง บรรทัดสีคือเมนูที่ใช้ บรรทัดล่างคือสถิติที่ได้ ข้อมูลทั้งหมดมาจากชุดเดียวกัน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ทั้งหมดเป็นภาพหน้าจอจากระบบจริง ใช้ข้อมูลตัวอย่าง อบต.ป่ากลาง ผู้ช่วย AI ในภาพใช้โมเดลภายใน (LocalAI) ข้อมูลไม่ออกนอกเครื่อง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ไม่ต้องลงแอป ไม่ต้องล็อกอิน แต่ละแหล่ง เช่น ผู้ใหญ่บ้าน อสม. รพ.สต. มีลิงก์ของตัวเอง จึงรู้ว่าเรื่องมาจากใคร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ตั้งเป็นรายการข่าวตามเวลาได้ เช่น ข่าวเช้า 07:00 ทุกวัน ข่าวจะเป็นร่างรอตรวจก่อนเสมอ เว้นแต่เปิดเผยแพร่อัตโนมัติ ลำโพงเสียงตามสายรับไฟล์ผ่าน MQTT แล้วเล่นออกลำโพงเอง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ทุกกรณีใช้ข้อมูลที่นำเข้าไว้ครั้งเดียว ไม่ต้องรวบรวมใหม่ ระบบจำลองตอนนี้รองรับน้ำท่วม ภัยอื่นใช้การวาดพื้นที่ได้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สิ่งที่ อบต. ต้องเตรียม: ไฟล์ประชากรและครุภัณฑ์ที่มีอยู่ รายชื่อเจ้าหน้าที่ ผู้ประสานงานกองละ 1 คน ต้องตกลงร่วมกัน: ระยะเวลานำร่อง และจะติดตั้งบนเซิร์ฟเวอร์ของ อบต. หรือใช้คลาวด์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สรุปคุณค่า: จากข้อมูลกระจาย สู่การตัดสินใจจากตัวเลขเดียวกัน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ปิดด้วยการสาธิตสด: เปิดหน้าภาพรวมเมือง แจ้งเหตุจากมือถือให้ทุกคนเห็นป๊อปอัปเด้ง แล้วถาม AI ให้สรุปเหตุการณ์เป็นกราฟ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เจ้าหน้าที่ อบต. ใช้แท็บเล็ตแผนที่คู่กับแบบสำรวจกระดาษในหมู่บ้า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812800" y="19050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F2A3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TAMBONX · SMART TAMBON</a:t>
            </a:r>
            <a:endParaRPr lang="th-TH" sz="1400" dirty="0"/>
          </a:p>
        </p:txBody>
      </p:sp>
      <p:sp>
        <p:nvSpPr>
          <p:cNvPr id="4" name="Title"/>
          <p:cNvSpPr txBox="1"/>
          <p:nvPr/>
        </p:nvSpPr>
        <p:spPr>
          <a:xfrm>
            <a:off x="812800" y="2317750"/>
            <a:ext cx="8572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44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ข้อมูลตำบล เก็บครั้งเดียว</a:t>
            </a:r>
            <a:endParaRPr lang="th-TH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44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ใช้ได้ทุกกอง</a:t>
            </a:r>
            <a:endParaRPr lang="th-TH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4127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0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ระบบเก็บข้อมูลสถิติ บนแผนที่ สำหรับ องค์การบริหารส่วนตำบล</a:t>
            </a:r>
            <a:endParaRPr lang="th-TH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230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B8C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นำเสนอต่อ อบต. · ตุลาคม 2569</a:t>
            </a:r>
            <a:endParaRPr lang="th-TH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โต๊ะทำงานที่เต็มไปด้วยแฟ้มเอกสารและสเปรดชี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07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045200" y="1079500"/>
            <a:ext cx="533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ปัญหาวันนี้</a:t>
            </a:r>
            <a:endParaRPr lang="th-TH" sz="1400" dirty="0"/>
          </a:p>
        </p:txBody>
      </p:sp>
      <p:sp>
        <p:nvSpPr>
          <p:cNvPr id="4" name="Title"/>
          <p:cNvSpPr txBox="1"/>
          <p:nvPr/>
        </p:nvSpPr>
        <p:spPr>
          <a:xfrm>
            <a:off x="6045200" y="1428750"/>
            <a:ext cx="533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ข้อมูลมีอยู่ แต่กระจาย</a:t>
            </a:r>
            <a:endParaRPr lang="th-TH" sz="3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จนสรุปไม่ทัน</a:t>
            </a:r>
            <a:endParaRPr lang="th-TH" sz="3600" dirty="0"/>
          </a:p>
        </p:txBody>
      </p:sp>
      <p:sp>
        <p:nvSpPr>
          <p:cNvPr id="5" name="Body"/>
          <p:cNvSpPr txBox="1"/>
          <p:nvPr/>
        </p:nvSpPr>
        <p:spPr>
          <a:xfrm>
            <a:off x="6045200" y="2921000"/>
            <a:ext cx="5334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ประชากร ครัวเรือน ทรัพย์สิน อยู่คนละไฟล์ คนละกอง</a:t>
            </a:r>
            <a:endParaRPr lang="th-TH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เรื่องร้องเรียน มาทางโทรศัพท์ ไลน์ กระดาษ นับยอดใหม่ทุกเดือน</a:t>
            </a:r>
            <a:endParaRPr lang="th-TH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เกิดภัย ตอบไม่ได้ทันที ว่ากระทบกี่ครัวเรือน ทรัพยากรพอหรือไม่</a:t>
            </a:r>
            <a:endParaRPr lang="th-TH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ทำรายงาน ให้ผู้บริหาร ใช้เวลาหลายวัน</a:t>
            </a:r>
            <a:endParaRPr lang="th-TH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เจ้าหน้าที่ อบต. ประชุมหน้าจอแผนที่ตำบลพร้อมชั้นข้อมู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812800" y="952500"/>
            <a:ext cx="546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TAMBONX</a:t>
            </a:r>
            <a:endParaRPr lang="th-TH" sz="1400" dirty="0"/>
          </a:p>
        </p:txBody>
      </p:sp>
      <p:sp>
        <p:nvSpPr>
          <p:cNvPr id="4" name="Title"/>
          <p:cNvSpPr txBox="1"/>
          <p:nvPr/>
        </p:nvSpPr>
        <p:spPr>
          <a:xfrm>
            <a:off x="812800" y="1301750"/>
            <a:ext cx="558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ข้อมูลตำบลทั้งหมด</a:t>
            </a:r>
            <a:endParaRPr lang="th-TH" sz="3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บนแผนที่เดียว</a:t>
            </a:r>
            <a:endParaRPr lang="th-TH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800" y="2794000"/>
            <a:ext cx="558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th-TH" altLang="en-US" sz="1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 </a:t>
            </a:r>
            <a:pPr indent="0" marL="0">
              <a:spcAft>
                <a:spcPts val="12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ประชากร ทีม ทรัพยากร วัสดุ โครงการ กิจกรรม CCTV</a:t>
            </a:r>
            <a:endParaRPr lang="th-TH" sz="1600" dirty="0"/>
          </a:p>
          <a:p>
            <a:pPr indent="0" marL="0">
              <a:spcAft>
                <a:spcPts val="1200"/>
              </a:spcAft>
              <a:buNone/>
            </a:pPr>
            <a:r>
              <a:rPr lang="th-TH" altLang="en-US" sz="1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นำเข้าง่าย  </a:t>
            </a:r>
            <a:pPr indent="0" marL="0">
              <a:spcAft>
                <a:spcPts val="12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Excel เดิม ระบบจับคู่คอลัมน์ให้</a:t>
            </a:r>
            <a:endParaRPr lang="th-TH" sz="1600" dirty="0"/>
          </a:p>
          <a:p>
            <a:pPr indent="0" marL="0">
              <a:spcAft>
                <a:spcPts val="1200"/>
              </a:spcAft>
              <a:buNone/>
            </a:pPr>
            <a:r>
              <a:rPr lang="th-TH" altLang="en-US" sz="1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ไม่หาย  </a:t>
            </a:r>
            <a:pPr indent="0" marL="0">
              <a:spcAft>
                <a:spcPts val="12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ทุกการแก้ไข มีรุ่นและประวัติ ย้อนกลับได้</a:t>
            </a:r>
            <a:endParaRPr lang="th-TH" sz="1600" dirty="0"/>
          </a:p>
          <a:p>
            <a:pPr indent="0" marL="0">
              <a:spcAft>
                <a:spcPts val="1200"/>
              </a:spcAft>
              <a:buNone/>
            </a:pPr>
            <a:r>
              <a:rPr lang="th-TH" altLang="en-US" sz="1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ข้อมูลรัฐมาเอง  </a:t>
            </a:r>
            <a:pPr indent="0" marL="0">
              <a:spcAft>
                <a:spcPts val="12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PM2.5 น้ำ ฝน จุดความร้อน ทุก 15–30 นาที</a:t>
            </a:r>
            <a:endParaRPr lang="th-TH" sz="1600" dirty="0"/>
          </a:p>
          <a:p>
            <a:pPr indent="0" marL="0">
              <a:spcAft>
                <a:spcPts val="1200"/>
              </a:spcAft>
              <a:buNone/>
            </a:pPr>
            <a:r>
              <a:rPr lang="th-TH" altLang="en-US" sz="1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ปลอดภัย  </a:t>
            </a:r>
            <a:pPr indent="0" marL="0">
              <a:spcAft>
                <a:spcPts val="12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 อบต. เห็นเฉพาะ ข้อมูลในเขตของตน</a:t>
            </a:r>
            <a:endParaRPr lang="th-TH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460500"/>
            <a:ext cx="317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หน้าจอจริง</a:t>
            </a:r>
            <a:endParaRPr lang="th-TH" sz="1400" dirty="0"/>
          </a:p>
        </p:txBody>
      </p:sp>
      <p:sp>
        <p:nvSpPr>
          <p:cNvPr id="3" name="Title"/>
          <p:cNvSpPr txBox="1"/>
          <p:nvPr/>
        </p:nvSpPr>
        <p:spPr>
          <a:xfrm>
            <a:off x="812800" y="1809750"/>
            <a:ext cx="330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32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เปิดมา</a:t>
            </a:r>
            <a:endParaRPr lang="th-TH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2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เห็นทั้งตำบล</a:t>
            </a:r>
            <a:endParaRPr lang="th-TH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2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ในหน้าเดียว</a:t>
            </a:r>
            <a:endParaRPr lang="th-TH" sz="3200" dirty="0"/>
          </a:p>
        </p:txBody>
      </p:sp>
      <p:sp>
        <p:nvSpPr>
          <p:cNvPr id="4" name="Body"/>
          <p:cNvSpPr txBox="1"/>
          <p:nvPr/>
        </p:nvSpPr>
        <p:spPr>
          <a:xfrm>
            <a:off x="812800" y="3683000"/>
            <a:ext cx="330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เหตุค้าง เหตุเสร็จ วันนี้</a:t>
            </a:r>
            <a:endParaRPr lang="th-TH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พยากรณ์อากาศ 12 ชม. และ 7 วัน</a:t>
            </a:r>
            <a:endParaRPr lang="th-TH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สถานะภัย 5 ประเภท</a:t>
            </a:r>
            <a:endParaRPr lang="th-TH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งานที่ต้องทำ และ แผนที่</a:t>
            </a:r>
            <a:endParaRPr lang="th-TH" sz="1500" dirty="0"/>
          </a:p>
        </p:txBody>
      </p:sp>
      <p:pic>
        <p:nvPicPr>
          <p:cNvPr id="5" name="Image 0" descr="หน้าภาพรวมเมืองของ อบต.ป่ากลาง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111250"/>
            <a:ext cx="7035800" cy="4635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งานสาธารณสุข ป้องกันภัย งานช่าง และ CCTV ในตำบ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12800" y="4381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44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ข้อมูลชุดเดียว ทุกกองใช้ร่วมกัน</a:t>
            </a:r>
            <a:endParaRPr lang="th-TH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52705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ป้องกันภัย · สาธารณสุข · ช่าง/คลัง · สำนักปลัด · พัสดุ · ผู้บริหาร</a:t>
            </a:r>
            <a:endParaRPr lang="th-TH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12800" y="6985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แต่ละกอง ได้สถิติอะไร</a:t>
            </a:r>
            <a:endParaRPr lang="th-TH" sz="3600" dirty="0"/>
          </a:p>
        </p:txBody>
      </p:sp>
      <p:sp>
        <p:nvSpPr>
          <p:cNvPr id="3" name="Card 1"/>
          <p:cNvSpPr/>
          <p:nvPr/>
        </p:nvSpPr>
        <p:spPr>
          <a:xfrm>
            <a:off x="812800" y="1651000"/>
            <a:ext cx="3384550" cy="2095500"/>
          </a:xfrm>
          <a:prstGeom prst="roundRect">
            <a:avLst>
              <a:gd name="adj" fmla="val 4800"/>
            </a:avLst>
          </a:prstGeom>
          <a:solidFill>
            <a:srgbClr val="F8F6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41400" y="18542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ป้องกันและบรรเทาภัย</a:t>
            </a:r>
            <a:endParaRPr lang="th-TH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41400" y="2273300"/>
            <a:ext cx="2927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300" dirty="0">
                <a:solidFill>
                  <a:srgbClr val="A852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 · ภัยพิบัติ · แผนที่เมือง</a:t>
            </a:r>
            <a:endParaRPr lang="th-TH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603500"/>
            <a:ext cx="2927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เหตุแยกตามประเภทภัย ครัวเรือนที่กระทบ ทรัพยากร ต้องใช้ เทียบ ที่มี</a:t>
            </a:r>
            <a:endParaRPr lang="th-TH" sz="1400" dirty="0"/>
          </a:p>
        </p:txBody>
      </p:sp>
      <p:sp>
        <p:nvSpPr>
          <p:cNvPr id="7" name="Card 2"/>
          <p:cNvSpPr/>
          <p:nvPr/>
        </p:nvSpPr>
        <p:spPr>
          <a:xfrm>
            <a:off x="4400550" y="1651000"/>
            <a:ext cx="3384550" cy="2095500"/>
          </a:xfrm>
          <a:prstGeom prst="roundRect">
            <a:avLst>
              <a:gd name="adj" fmla="val 4800"/>
            </a:avLst>
          </a:prstGeom>
          <a:solidFill>
            <a:srgbClr val="F8F6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29150" y="18542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สาธารณสุข สิ่งแวดล้อม</a:t>
            </a:r>
            <a:endParaRPr lang="th-TH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29150" y="2273300"/>
            <a:ext cx="2927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300" dirty="0">
                <a:solidFill>
                  <a:srgbClr val="2A6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· จุดความร้อน · PM2.5</a:t>
            </a:r>
            <a:endParaRPr lang="th-TH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29150" y="2603500"/>
            <a:ext cx="2927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PM2.5 รายตำบล จุดความร้อน 24 ชม.–7 วัน แนวโน้ม ผ่าน AI</a:t>
            </a:r>
            <a:endParaRPr lang="th-TH" sz="1400" dirty="0"/>
          </a:p>
        </p:txBody>
      </p:sp>
      <p:sp>
        <p:nvSpPr>
          <p:cNvPr id="11" name="Card 3"/>
          <p:cNvSpPr/>
          <p:nvPr/>
        </p:nvSpPr>
        <p:spPr>
          <a:xfrm>
            <a:off x="7988300" y="1651000"/>
            <a:ext cx="3384550" cy="2095500"/>
          </a:xfrm>
          <a:prstGeom prst="roundRect">
            <a:avLst>
              <a:gd name="adj" fmla="val 4800"/>
            </a:avLst>
          </a:prstGeom>
          <a:solidFill>
            <a:srgbClr val="F8F6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16900" y="18542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ช่าง คลัง งานแผน</a:t>
            </a:r>
            <a:endParaRPr lang="th-TH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16900" y="2273300"/>
            <a:ext cx="2927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300" dirty="0">
                <a:solidFill>
                  <a:srgbClr val="A852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</a:t>
            </a:r>
            <a:endParaRPr lang="th-TH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16900" y="2603500"/>
            <a:ext cx="2927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งบต่อปีงบประมาณ แยกกลุ่ม แหล่งงบ การอนุมัติ ความคืบหน้า %</a:t>
            </a:r>
            <a:endParaRPr lang="th-TH" sz="1400" dirty="0"/>
          </a:p>
        </p:txBody>
      </p:sp>
      <p:sp>
        <p:nvSpPr>
          <p:cNvPr id="15" name="Card 4"/>
          <p:cNvSpPr/>
          <p:nvPr/>
        </p:nvSpPr>
        <p:spPr>
          <a:xfrm>
            <a:off x="812800" y="3949700"/>
            <a:ext cx="3384550" cy="2095500"/>
          </a:xfrm>
          <a:prstGeom prst="roundRect">
            <a:avLst>
              <a:gd name="adj" fmla="val 4800"/>
            </a:avLst>
          </a:prstGeom>
          <a:solidFill>
            <a:srgbClr val="F8F6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1400" y="41529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สำนักปลัด</a:t>
            </a:r>
            <a:endParaRPr lang="th-TH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41400" y="4572000"/>
            <a:ext cx="2927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300" dirty="0">
                <a:solidFill>
                  <a:srgbClr val="2A6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นำเข้าข้อมูล · กิจกรรม · AI</a:t>
            </a:r>
            <a:endParaRPr lang="th-TH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41400" y="4902200"/>
            <a:ext cx="2927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ประชากร ชาย/หญิง/ครัวเรือน รายหมู่ กิจกรรม และ ผู้ร่วมงาน</a:t>
            </a:r>
            <a:endParaRPr lang="th-TH" sz="1400" dirty="0"/>
          </a:p>
        </p:txBody>
      </p:sp>
      <p:sp>
        <p:nvSpPr>
          <p:cNvPr id="19" name="Card 5"/>
          <p:cNvSpPr/>
          <p:nvPr/>
        </p:nvSpPr>
        <p:spPr>
          <a:xfrm>
            <a:off x="4400550" y="3949700"/>
            <a:ext cx="3384550" cy="2095500"/>
          </a:xfrm>
          <a:prstGeom prst="roundRect">
            <a:avLst>
              <a:gd name="adj" fmla="val 4800"/>
            </a:avLst>
          </a:prstGeom>
          <a:solidFill>
            <a:srgbClr val="F8F6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9150" y="41529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งานพัสดุ</a:t>
            </a:r>
            <a:endParaRPr lang="th-TH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629150" y="4572000"/>
            <a:ext cx="2927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300" dirty="0">
                <a:solidFill>
                  <a:srgbClr val="A852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ทรัพยากร · วัสดุสิ้นเปลือง</a:t>
            </a:r>
            <a:endParaRPr lang="th-TH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29150" y="4902200"/>
            <a:ext cx="2927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สต็อกคงเหลือ รับเข้า–เบิกออก แจ้งเตือน ใกล้หมด ความพร้อม ครุภัณฑ์</a:t>
            </a:r>
            <a:endParaRPr lang="th-TH" sz="1400" dirty="0"/>
          </a:p>
        </p:txBody>
      </p:sp>
      <p:sp>
        <p:nvSpPr>
          <p:cNvPr id="23" name="Card 6"/>
          <p:cNvSpPr/>
          <p:nvPr/>
        </p:nvSpPr>
        <p:spPr>
          <a:xfrm>
            <a:off x="7988300" y="3949700"/>
            <a:ext cx="3384550" cy="2095500"/>
          </a:xfrm>
          <a:prstGeom prst="roundRect">
            <a:avLst>
              <a:gd name="adj" fmla="val 4800"/>
            </a:avLst>
          </a:prstGeom>
          <a:solidFill>
            <a:srgbClr val="1D2B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16900" y="41529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</a:t>
            </a:r>
            <a:endParaRPr lang="th-TH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16900" y="4572000"/>
            <a:ext cx="2927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300" dirty="0">
                <a:solidFill>
                  <a:srgbClr val="F2A3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ภาพรวมเมือง · ผู้ช่วย AI</a:t>
            </a:r>
            <a:endParaRPr lang="th-TH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16900" y="4902200"/>
            <a:ext cx="2927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th-TH" altLang="en-US" sz="14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เหตุค้าง/เสร็จ และ คำตอบทันที เป็นกราฟ</a:t>
            </a:r>
            <a:endParaRPr lang="th-TH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12800" y="6985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32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ทุกกอง ทำงานบนระบบเดียวกัน</a:t>
            </a:r>
            <a:endParaRPr lang="th-TH" sz="3200" dirty="0"/>
          </a:p>
        </p:txBody>
      </p:sp>
      <p:pic>
        <p:nvPicPr>
          <p:cNvPr id="3" name="Image 0" descr="หน้าเหตุการณ์ทั่วไป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492250"/>
            <a:ext cx="5194300" cy="190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2800" y="1492250"/>
            <a:ext cx="5194300" cy="1905000"/>
          </a:xfrm>
          <a:prstGeom prst="rect">
            <a:avLst/>
          </a:prstGeom>
          <a:ln w="9525">
            <a:solidFill>
              <a:srgbClr val="D9D4C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2800" y="3473450"/>
            <a:ext cx="519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เหตุการณ์ทั่วไป  </a:t>
            </a:r>
            <a:pPr indent="0" marL="0">
              <a:buNone/>
            </a:pPr>
            <a:r>
              <a:rPr lang="th-TH" altLang="en-US" sz="13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รับเรื่อง ติดตาม ทรัพยากรที่ใช้</a:t>
            </a:r>
            <a:endParaRPr lang="th-TH" sz="1300" dirty="0"/>
          </a:p>
        </p:txBody>
      </p:sp>
      <p:pic>
        <p:nvPicPr>
          <p:cNvPr id="6" name="Image 1" descr="หน้าโครงการพร้อมกราฟงบประมาณรายปี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84900" y="1492250"/>
            <a:ext cx="5194300" cy="1905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84900" y="1492250"/>
            <a:ext cx="5194300" cy="1905000"/>
          </a:xfrm>
          <a:prstGeom prst="rect">
            <a:avLst/>
          </a:prstGeom>
          <a:ln w="9525">
            <a:solidFill>
              <a:srgbClr val="D9D4C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84900" y="3473450"/>
            <a:ext cx="519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  </a:t>
            </a:r>
            <a:pPr indent="0" marL="0">
              <a:buNone/>
            </a:pPr>
            <a:r>
              <a:rPr lang="th-TH" altLang="en-US" sz="13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งบรายปี แยกผลการอนุมัติ 82 โครงการ</a:t>
            </a:r>
            <a:endParaRPr lang="th-TH" sz="1300" dirty="0"/>
          </a:p>
        </p:txBody>
      </p:sp>
      <p:pic>
        <p:nvPicPr>
          <p:cNvPr id="9" name="Image 2" descr="หน้านำเข้าข้อมูลประชากร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905250"/>
            <a:ext cx="5194300" cy="1905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12800" y="3905250"/>
            <a:ext cx="5194300" cy="1905000"/>
          </a:xfrm>
          <a:prstGeom prst="rect">
            <a:avLst/>
          </a:prstGeom>
          <a:ln w="9525">
            <a:solidFill>
              <a:srgbClr val="D9D4C7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5886450"/>
            <a:ext cx="519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นำเข้าข้อมูล  </a:t>
            </a:r>
            <a:pPr indent="0" marL="0">
              <a:buNone/>
            </a:pPr>
            <a:r>
              <a:rPr lang="th-TH" altLang="en-US" sz="13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ประชากร 7 หมู่บ้าน มีรุ่น และประวัติ</a:t>
            </a:r>
            <a:endParaRPr lang="th-TH" sz="1300" dirty="0"/>
          </a:p>
        </p:txBody>
      </p:sp>
      <p:pic>
        <p:nvPicPr>
          <p:cNvPr id="12" name="Image 3" descr="ผู้ช่วย AI ตอบเป็นตารางและกราฟ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84900" y="3905250"/>
            <a:ext cx="5194300" cy="1905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84900" y="3905250"/>
            <a:ext cx="5194300" cy="1905000"/>
          </a:xfrm>
          <a:prstGeom prst="rect">
            <a:avLst/>
          </a:prstGeom>
          <a:ln w="9525">
            <a:solidFill>
              <a:srgbClr val="D9D4C7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184900" y="5886450"/>
            <a:ext cx="519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ผู้ช่วย AI  </a:t>
            </a:r>
            <a:pPr indent="0" marL="0">
              <a:buNone/>
            </a:pPr>
            <a:r>
              <a:rPr lang="th-TH" altLang="en-US" sz="13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ถามภาษาไทย ได้ตาราง และกราฟ</a:t>
            </a:r>
            <a:endParaRPr lang="th-TH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ชาวบ้านถ่ายรูปต้นไม้ล้มขวางถนนด้วยมือถือเพื่อแจ้งเหต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07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045200" y="762000"/>
            <a:ext cx="533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 1 · แจ้งเหตุจากประชาชน</a:t>
            </a:r>
            <a:endParaRPr lang="th-TH" sz="1400" dirty="0"/>
          </a:p>
        </p:txBody>
      </p:sp>
      <p:sp>
        <p:nvSpPr>
          <p:cNvPr id="4" name="Title"/>
          <p:cNvSpPr txBox="1"/>
          <p:nvPr/>
        </p:nvSpPr>
        <p:spPr>
          <a:xfrm>
            <a:off x="6045200" y="1111250"/>
            <a:ext cx="533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32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ต้นไม้ล้มขวางถนน</a:t>
            </a:r>
            <a:endParaRPr lang="th-TH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2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ถึงทีมในไม่กี่นาที</a:t>
            </a:r>
            <a:endParaRPr lang="th-TH" sz="3200" dirty="0"/>
          </a:p>
        </p:txBody>
      </p:sp>
      <p:sp>
        <p:nvSpPr>
          <p:cNvPr id="5" name="Steps"/>
          <p:cNvSpPr txBox="1"/>
          <p:nvPr/>
        </p:nvSpPr>
        <p:spPr>
          <a:xfrm>
            <a:off x="6045200" y="2413000"/>
            <a:ext cx="533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 ชาวบ้านเปิดลิงก์ ถ่ายรูป กด “ใช้ตำแหน่งปัจจุบัน” แล้วส่ง</a:t>
            </a:r>
            <a:endParaRPr lang="th-TH" sz="1600" dirty="0"/>
          </a:p>
          <a:p>
            <a:pPr indent="0" marL="0">
              <a:spcAft>
                <a:spcPts val="8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 หน้าจอเจ้าหน้าที่ เด้งแจ้งเตือนทันที</a:t>
            </a:r>
            <a:endParaRPr lang="th-TH" sz="1600" dirty="0"/>
          </a:p>
          <a:p>
            <a:pPr indent="0" marL="0">
              <a:spcAft>
                <a:spcPts val="8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 “รับเรื่อง” มอบทีมกู้ภัย บันทึกความคืบหน้า</a:t>
            </a:r>
            <a:endParaRPr lang="th-TH" sz="1600" dirty="0"/>
          </a:p>
          <a:p>
            <a:pPr indent="0" marL="0">
              <a:spcAft>
                <a:spcPts val="800"/>
              </a:spcAft>
              <a:buNone/>
            </a:pPr>
            <a:r>
              <a:rPr lang="th-TH" altLang="en-US" sz="16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 ปิดงาน อุปกรณ์คืนคลัง อัตโนมัติ</a:t>
            </a:r>
            <a:endParaRPr lang="th-TH" sz="1600" dirty="0"/>
          </a:p>
        </p:txBody>
      </p:sp>
      <p:sp>
        <p:nvSpPr>
          <p:cNvPr id="6" name="Callout"/>
          <p:cNvSpPr/>
          <p:nvPr/>
        </p:nvSpPr>
        <p:spPr>
          <a:xfrm>
            <a:off x="6045200" y="4445000"/>
            <a:ext cx="5334000" cy="952500"/>
          </a:xfrm>
          <a:prstGeom prst="roundRect">
            <a:avLst>
              <a:gd name="adj" fmla="val 7680"/>
            </a:avLst>
          </a:prstGeom>
          <a:solidFill>
            <a:srgbClr val="EBE8D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48400" y="4572000"/>
            <a:ext cx="4927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สถิติที่ได้เอง: </a:t>
            </a:r>
            <a:pPr indent="0" marL="0">
              <a:buNone/>
            </a:pPr>
            <a:r>
              <a:rPr lang="th-TH" altLang="en-US" sz="1500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เรื่องรายเดือน แยกประเภท แหล่งที่มา สถานะ และจุดเกิดซ้ำ</a:t>
            </a:r>
            <a:endParaRPr lang="th-TH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825500"/>
            <a:ext cx="355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F2A3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ใหม่ · เสียงตามสาย</a:t>
            </a:r>
            <a:endParaRPr lang="th-TH" sz="1400" dirty="0"/>
          </a:p>
        </p:txBody>
      </p:sp>
      <p:sp>
        <p:nvSpPr>
          <p:cNvPr id="3" name="Title"/>
          <p:cNvSpPr txBox="1"/>
          <p:nvPr/>
        </p:nvSpPr>
        <p:spPr>
          <a:xfrm>
            <a:off x="812800" y="117475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th-TH" altLang="en-US" sz="30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เขียนข่าว</a:t>
            </a:r>
            <a:endParaRPr lang="th-TH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0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อ่านออกเสียง</a:t>
            </a:r>
            <a:endParaRPr lang="th-TH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th-TH" altLang="en-US" sz="30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ส่งถึงทุกหมู่บ้าน</a:t>
            </a:r>
            <a:endParaRPr lang="th-TH" sz="3000" dirty="0"/>
          </a:p>
        </p:txBody>
      </p:sp>
      <p:sp>
        <p:nvSpPr>
          <p:cNvPr id="4" name="Steps"/>
          <p:cNvSpPr txBox="1"/>
          <p:nvPr/>
        </p:nvSpPr>
        <p:spPr>
          <a:xfrm>
            <a:off x="812800" y="2857500"/>
            <a:ext cx="3683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th-TH" altLang="en-US" sz="14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 AI สรุปข่าวจากข้อมูลจริง: อากาศ ฝุ่น น้ำ กิจกรรม เหตุการณ์</a:t>
            </a:r>
            <a:endParaRPr lang="th-TH" sz="1400" dirty="0"/>
          </a:p>
          <a:p>
            <a:pPr indent="0" marL="0">
              <a:spcAft>
                <a:spcPts val="600"/>
              </a:spcAft>
              <a:buNone/>
            </a:pPr>
            <a:r>
              <a:rPr lang="th-TH" altLang="en-US" sz="14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 เจ้าหน้าที่ ตรวจแก้ เทียบ ข้อมูลที่ใช้สรุป</a:t>
            </a:r>
            <a:endParaRPr lang="th-TH" sz="1400" dirty="0"/>
          </a:p>
          <a:p>
            <a:pPr indent="0" marL="0">
              <a:spcAft>
                <a:spcPts val="600"/>
              </a:spcAft>
              <a:buNone/>
            </a:pPr>
            <a:r>
              <a:rPr lang="th-TH" altLang="en-US" sz="14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 สร้างเสียงอ่าน MP3 และ ภาพข่าว</a:t>
            </a:r>
            <a:endParaRPr lang="th-TH" sz="1400" dirty="0"/>
          </a:p>
          <a:p>
            <a:pPr indent="0" marL="0">
              <a:spcAft>
                <a:spcPts val="600"/>
              </a:spcAft>
              <a:buNone/>
            </a:pPr>
            <a:r>
              <a:rPr lang="th-TH" altLang="en-US" sz="14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 กดเผยแพร่ ครั้งเดียว</a:t>
            </a:r>
            <a:endParaRPr lang="th-TH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53975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F2A3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2800" y="53975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เสียงตามสาย</a:t>
            </a:r>
            <a:endParaRPr lang="th-TH" sz="1200" dirty="0"/>
          </a:p>
        </p:txBody>
      </p:sp>
      <p:sp>
        <p:nvSpPr>
          <p:cNvPr id="7" name="Shape 5"/>
          <p:cNvSpPr/>
          <p:nvPr/>
        </p:nvSpPr>
        <p:spPr>
          <a:xfrm>
            <a:off x="2159000" y="539750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3447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59000" y="5397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Facebook</a:t>
            </a:r>
            <a:endParaRPr lang="th-TH" sz="1200" dirty="0"/>
          </a:p>
        </p:txBody>
      </p:sp>
      <p:sp>
        <p:nvSpPr>
          <p:cNvPr id="9" name="Shape 7"/>
          <p:cNvSpPr/>
          <p:nvPr/>
        </p:nvSpPr>
        <p:spPr>
          <a:xfrm>
            <a:off x="3187700" y="53975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3447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87700" y="53975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Instagram</a:t>
            </a:r>
            <a:endParaRPr lang="th-TH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5791200"/>
            <a:ext cx="571500" cy="304800"/>
          </a:xfrm>
          <a:prstGeom prst="roundRect">
            <a:avLst>
              <a:gd name="adj" fmla="val 50000"/>
            </a:avLst>
          </a:prstGeom>
          <a:solidFill>
            <a:srgbClr val="3447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2800" y="57912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</a:t>
            </a:r>
            <a:endParaRPr lang="th-TH" sz="1200" dirty="0"/>
          </a:p>
        </p:txBody>
      </p:sp>
      <p:sp>
        <p:nvSpPr>
          <p:cNvPr id="13" name="Shape 11"/>
          <p:cNvSpPr/>
          <p:nvPr/>
        </p:nvSpPr>
        <p:spPr>
          <a:xfrm>
            <a:off x="1460500" y="579120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3447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0500" y="57912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Telegram</a:t>
            </a:r>
            <a:endParaRPr lang="th-TH" sz="1200" dirty="0"/>
          </a:p>
        </p:txBody>
      </p:sp>
      <p:sp>
        <p:nvSpPr>
          <p:cNvPr id="15" name="Shape 13"/>
          <p:cNvSpPr/>
          <p:nvPr/>
        </p:nvSpPr>
        <p:spPr>
          <a:xfrm>
            <a:off x="4724400" y="1238250"/>
            <a:ext cx="6654800" cy="4381500"/>
          </a:xfrm>
          <a:prstGeom prst="roundRect">
            <a:avLst>
              <a:gd name="adj" fmla="val 1670"/>
            </a:avLst>
          </a:prstGeom>
          <a:solidFill>
            <a:srgbClr val="F8F6F0"/>
          </a:solidFill>
          <a:ln/>
        </p:spPr>
      </p:sp>
      <p:pic>
        <p:nvPicPr>
          <p:cNvPr id="16" name="Image 0" descr="หน้าตรวจข่าวประชาสัมพันธ์ พร้อมเสียงอ่าน MP3 ภาพข่าว และประวัติการส่งไปเสียงตามสายหมู่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4400" y="1238250"/>
            <a:ext cx="66548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12800" y="6985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อีก 3 สถานการณ์ ที่ตอบได้ทันที</a:t>
            </a:r>
            <a:endParaRPr lang="th-TH" sz="3600" dirty="0"/>
          </a:p>
        </p:txBody>
      </p:sp>
      <p:sp>
        <p:nvSpPr>
          <p:cNvPr id="3" name="Case 1"/>
          <p:cNvSpPr/>
          <p:nvPr/>
        </p:nvSpPr>
        <p:spPr>
          <a:xfrm>
            <a:off x="812800" y="1651000"/>
            <a:ext cx="3384550" cy="4394200"/>
          </a:xfrm>
          <a:prstGeom prst="roundRect">
            <a:avLst>
              <a:gd name="adj" fmla="val 2972"/>
            </a:avLst>
          </a:prstGeom>
          <a:solidFill>
            <a:srgbClr val="F8F6F0"/>
          </a:solidFill>
          <a:ln/>
        </p:spPr>
      </p:sp>
      <p:pic>
        <p:nvPicPr>
          <p:cNvPr id="4" name="Image 0" descr="น้ำท่วม หมู่บ้านริมน้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1930400"/>
            <a:ext cx="406400" cy="406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2200" y="2489200"/>
            <a:ext cx="28257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0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น้ำท่วม หมู่บ้านริมน้ำ</a:t>
            </a:r>
            <a:endParaRPr lang="th-TH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92200" y="3302000"/>
            <a:ext cx="282575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วาดพื้นที่ หรือ จำลองระดับน้ำ ได้พื้นที่ (ไร่) ประชากร ครัวเรือน สถานที่สำคัญ</a:t>
            </a:r>
            <a:endParaRPr lang="th-TH" sz="1500" dirty="0"/>
          </a:p>
          <a:p>
            <a:pPr indent="0" marL="0">
              <a:spcAft>
                <a:spcPts val="1400"/>
              </a:spcAft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กฎทรัพยากร บอกว่า อุปกรณ์ “เพียงพอ” หรือ “ไม่เพียงพอ”</a:t>
            </a:r>
            <a:endParaRPr lang="th-TH" sz="1500" dirty="0"/>
          </a:p>
        </p:txBody>
      </p:sp>
      <p:sp>
        <p:nvSpPr>
          <p:cNvPr id="7" name="Case 2"/>
          <p:cNvSpPr/>
          <p:nvPr/>
        </p:nvSpPr>
        <p:spPr>
          <a:xfrm>
            <a:off x="4400550" y="1651000"/>
            <a:ext cx="3384550" cy="4394200"/>
          </a:xfrm>
          <a:prstGeom prst="roundRect">
            <a:avLst>
              <a:gd name="adj" fmla="val 2972"/>
            </a:avLst>
          </a:prstGeom>
          <a:solidFill>
            <a:srgbClr val="F8F6F0"/>
          </a:solidFill>
          <a:ln/>
        </p:spPr>
      </p:sp>
      <p:pic>
        <p:nvPicPr>
          <p:cNvPr id="8" name="Image 1" descr="รายงาน ก่อนประชุมสภ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0" y="1930400"/>
            <a:ext cx="406400" cy="406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79950" y="2489200"/>
            <a:ext cx="28257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0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ก่อนประชุมสภา</a:t>
            </a:r>
            <a:endParaRPr lang="th-TH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679950" y="3302000"/>
            <a:ext cx="282575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 AI “งบโครงการ ต่อปีงบประมาณ แยกกลุ่ม” ได้กราฟ ตาราง CSV และ PDF</a:t>
            </a:r>
            <a:endParaRPr lang="th-TH" sz="1500" dirty="0"/>
          </a:p>
          <a:p>
            <a:pPr indent="0" marL="0">
              <a:spcAft>
                <a:spcPts val="1400"/>
              </a:spcAft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เก็บไว้ เดือนหน้า กดรันใหม่ ได้ตัวเลขล่าสุด</a:t>
            </a:r>
            <a:endParaRPr lang="th-TH" sz="1500" dirty="0"/>
          </a:p>
        </p:txBody>
      </p:sp>
      <p:sp>
        <p:nvSpPr>
          <p:cNvPr id="11" name="Case 3"/>
          <p:cNvSpPr/>
          <p:nvPr/>
        </p:nvSpPr>
        <p:spPr>
          <a:xfrm>
            <a:off x="7988300" y="1651000"/>
            <a:ext cx="3384550" cy="4394200"/>
          </a:xfrm>
          <a:prstGeom prst="roundRect">
            <a:avLst>
              <a:gd name="adj" fmla="val 2972"/>
            </a:avLst>
          </a:prstGeom>
          <a:solidFill>
            <a:srgbClr val="F8F6F0"/>
          </a:solidFill>
          <a:ln/>
        </p:spPr>
      </p:sp>
      <p:pic>
        <p:nvPicPr>
          <p:cNvPr id="12" name="Image 2" descr="ฤดูหมอกควั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1930400"/>
            <a:ext cx="406400" cy="406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67700" y="2489200"/>
            <a:ext cx="28257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0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ฤดูหมอกควัน</a:t>
            </a:r>
            <a:endParaRPr lang="th-TH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267700" y="3302000"/>
            <a:ext cx="282575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PM2.5 รายตำบล และ จุดความร้อน 7 วัน บนแผนที่</a:t>
            </a:r>
            <a:endParaRPr lang="th-TH" sz="1500" dirty="0"/>
          </a:p>
          <a:p>
            <a:pPr indent="0" marL="0">
              <a:spcAft>
                <a:spcPts val="1400"/>
              </a:spcAft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วางแผน ส่งทีมเฝ้าระวังไฟ และ แจ้งเตือนกลุ่มเสี่ยง</a:t>
            </a:r>
            <a:endParaRPr lang="th-TH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การอบรมเจ้าหน้าที่ อบต. ใช้งานแดชบอร์ดแผนที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812800" y="1079500"/>
            <a:ext cx="546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แผนนำร่อง</a:t>
            </a:r>
            <a:endParaRPr lang="th-TH" sz="1400" dirty="0"/>
          </a:p>
        </p:txBody>
      </p:sp>
      <p:sp>
        <p:nvSpPr>
          <p:cNvPr id="4" name="Title"/>
          <p:cNvSpPr txBox="1"/>
          <p:nvPr/>
        </p:nvSpPr>
        <p:spPr>
          <a:xfrm>
            <a:off x="812800" y="142875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เริ่มใช้งาน ใน 4 ขั้น</a:t>
            </a:r>
            <a:endParaRPr lang="th-TH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2349500"/>
            <a:ext cx="38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400" b="1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th-TH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333500" y="2349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ตั้งค่าพื้นที่ และบัญชี  </a:t>
            </a:r>
            <a:pPr indent="0" marL="0"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 อบต. ผู้ดูแล เจ้าหน้าที่ทุกกอง</a:t>
            </a:r>
            <a:endParaRPr lang="th-TH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3270250"/>
            <a:ext cx="38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400" b="1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th-TH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333500" y="327025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นำเข้าข้อมูลพื้นฐาน  </a:t>
            </a:r>
            <a:pPr indent="0" marL="0"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ประชากร หมู่บ้าน ทีม ทรัพยากร จาก Excel เดิม</a:t>
            </a:r>
            <a:endParaRPr lang="th-TH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4191000"/>
            <a:ext cx="38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400" b="1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th-TH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333500" y="4191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 และเปิดรับแจ้งเหตุ  </a:t>
            </a:r>
            <a:pPr indent="0" marL="0"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แชร์ลิงก์ให้ ผู้ใหญ่บ้าน อสม. รพ.สต.</a:t>
            </a:r>
            <a:endParaRPr lang="th-TH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2800" y="5111750"/>
            <a:ext cx="38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2400" b="1" dirty="0">
                <a:solidFill>
                  <a:srgbClr val="C462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th-TH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333500" y="511175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ใช้งานจริง  </a:t>
            </a:r>
            <a:pPr indent="0" marL="0">
              <a:buNone/>
            </a:pPr>
            <a:r>
              <a:rPr lang="th-TH" altLang="en-US" sz="1500" dirty="0">
                <a:solidFill>
                  <a:srgbClr val="4654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โครงการปีงบปัจจุบัน กฎทรัพยากร รายงาน AI รายเดือน</a:t>
            </a:r>
            <a:endParaRPr lang="th-TH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12800" y="6985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3600" b="1" dirty="0">
                <a:solidFill>
                  <a:srgbClr val="1D2B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 และ หลังใช้ TambonX</a:t>
            </a:r>
            <a:endParaRPr lang="th-TH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82750"/>
          <a:ext cx="10566400" cy="914400"/>
        </p:xfrm>
        <a:graphic>
          <a:graphicData uri="http://schemas.openxmlformats.org/drawingml/2006/table">
            <a:tbl>
              <a:tblPr/>
              <a:tblGrid>
                <a:gridCol w="4437888"/>
                <a:gridCol w="6128512"/>
              </a:tblGrid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ก่อน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2A35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หลังใช้ TambonX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B2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6545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ข้อมูลอยู่ในแฟ้ม และ Excel หลายฉบับ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ข้อมูลชุดเดียว มีรุ่น และประวัติการแก้ไข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0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6545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รับเรื่องทางโทรศัพท์ จดกระดาษ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แจ้งผ่านลิงก์ พร้อมรูป และพิกัด ติดตามทุกขั้น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FE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6545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ประเมินผลกระทบ ด้วยการคาดการณ์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วาดพื้นที่ ได้คน ครัวเรือน ทรัพยากรที่ต้องใช้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0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6545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ทำรายงานใหม่ ทุกเดือน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ถาม AI ภาษาไทย ได้กราฟ เก็บไว้รันใหม่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FE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6545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เปิดหลายเว็บ ดูฝุ่น น้ำ ไฟ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ข้อมูลรัฐ รวมบนแผนที่ตำบล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6F0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6545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เขียนข่าว อ่านเสียงตามสาย เอง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AI เขียนข่าว อ่านออกเสียง ส่งเสียงตามสาย และโซเชียล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ภาพมุมสูงหมู่บ้านไทยท่ามกลางทุ่งนายามเย็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812800" y="37465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400" b="1" spc="100" kern="0" dirty="0">
                <a:solidFill>
                  <a:srgbClr val="F2A3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</a:t>
            </a:r>
            <a:endParaRPr lang="th-TH" sz="1400" dirty="0"/>
          </a:p>
        </p:txBody>
      </p:sp>
      <p:sp>
        <p:nvSpPr>
          <p:cNvPr id="4" name="Title"/>
          <p:cNvSpPr txBox="1"/>
          <p:nvPr/>
        </p:nvSpPr>
        <p:spPr>
          <a:xfrm>
            <a:off x="812800" y="4095750"/>
            <a:ext cx="106680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4000" b="1" dirty="0">
                <a:solidFill>
                  <a:srgbClr val="F6F4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นำร่อง 1 อบต. เริ่มจากข้อมูลที่มีอยู่แล้ว</a:t>
            </a:r>
            <a:endParaRPr lang="th-TH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4953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800" dirty="0">
                <a:solidFill>
                  <a:srgbClr val="D9E2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นำเข้า ประชากร ทีม ทรัพยากร แล้วเปิดลิงก์แจ้งเหตุ ให้ประชาชน</a:t>
            </a:r>
            <a:endParaRPr lang="th-TH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6223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th-TH" altLang="en-US" sz="1200" dirty="0">
                <a:solidFill>
                  <a:srgbClr val="B8C6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TambonX · SMART TAMBON SAFETY THAILAND</a:t>
            </a:r>
            <a:endParaRPr lang="th-TH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TambonX — นำเสนอ อบต.</dc:title>
  <dc:subject>PptxGenJS Presentation</dc:subject>
  <dc:creator>TambonX</dc:creator>
  <cp:lastModifiedBy>TambonX</cp:lastModifiedBy>
  <cp:revision>1</cp:revision>
  <dcterms:created xsi:type="dcterms:W3CDTF">2026-10-22T01:26:47Z</dcterms:created>
  <dcterms:modified xsi:type="dcterms:W3CDTF">2026-10-22T01:26:47Z</dcterms:modified>
</cp:coreProperties>
</file>