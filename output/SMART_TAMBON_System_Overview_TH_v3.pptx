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cfad6368e42f4" /><Relationship Type="http://schemas.openxmlformats.org/officeDocument/2006/relationships/extended-properties" Target="/docProps/app.xml" Id="Rc7de483f50cb49d7" /><Relationship Type="http://schemas.openxmlformats.org/officeDocument/2006/relationships/officeDocument" Target="/ppt/presentation.xml" Id="R2e2021777f8146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4ed278ab7d4122"/>
  </p:sldMasterIdLst>
  <p:notesMasterIdLst>
    <p:notesMasterId xmlns:r="http://schemas.openxmlformats.org/officeDocument/2006/relationships" r:id="R39dae098740d4744"/>
  </p:notesMasterIdLst>
  <p:sldIdLst>
    <p:sldId xmlns:r="http://schemas.openxmlformats.org/officeDocument/2006/relationships" id="256" r:id="R75c92c32f3064db4"/>
    <p:sldId xmlns:r="http://schemas.openxmlformats.org/officeDocument/2006/relationships" id="257" r:id="R0abb9cef4a9d45ee"/>
    <p:sldId xmlns:r="http://schemas.openxmlformats.org/officeDocument/2006/relationships" id="258" r:id="R41edbcb4528a4dd3"/>
    <p:sldId xmlns:r="http://schemas.openxmlformats.org/officeDocument/2006/relationships" id="259" r:id="R7827d17fbfcc4017"/>
    <p:sldId xmlns:r="http://schemas.openxmlformats.org/officeDocument/2006/relationships" id="260" r:id="R47084ad2d0764ffd"/>
    <p:sldId xmlns:r="http://schemas.openxmlformats.org/officeDocument/2006/relationships" id="261" r:id="R24a65ba3b3ec4d4f"/>
    <p:sldId xmlns:r="http://schemas.openxmlformats.org/officeDocument/2006/relationships" id="262" r:id="Rcdce75ebc93345be"/>
    <p:sldId xmlns:r="http://schemas.openxmlformats.org/officeDocument/2006/relationships" id="263" r:id="R788723c5f4824b74"/>
    <p:sldId xmlns:r="http://schemas.openxmlformats.org/officeDocument/2006/relationships" id="264" r:id="R015cca7af2664a00"/>
    <p:sldId xmlns:r="http://schemas.openxmlformats.org/officeDocument/2006/relationships" id="265" r:id="R4b90358a3e884d7d"/>
    <p:sldId xmlns:r="http://schemas.openxmlformats.org/officeDocument/2006/relationships" id="266" r:id="Rbaa2ecf1aeb441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e1665572b24124" /><Relationship Type="http://schemas.openxmlformats.org/officeDocument/2006/relationships/slideMaster" Target="/ppt/slideMasters/slideMaster1.xml" Id="Rb34ed278ab7d4122" /><Relationship Type="http://schemas.openxmlformats.org/officeDocument/2006/relationships/notesMaster" Target="/ppt/notesMasters/notesMaster1.xml" Id="R39dae098740d4744" /><Relationship Type="http://schemas.openxmlformats.org/officeDocument/2006/relationships/presProps" Target="/ppt/presProps.xml" Id="Rcfd88e7a4f9a453e" /><Relationship Type="http://schemas.openxmlformats.org/officeDocument/2006/relationships/tableStyles" Target="/ppt/tableStyles.xml" Id="R64c7fc82886f45c1" /><Relationship Type="http://schemas.openxmlformats.org/officeDocument/2006/relationships/slide" Target="/ppt/slides/slide1.xml" Id="R75c92c32f3064db4" /><Relationship Type="http://schemas.openxmlformats.org/officeDocument/2006/relationships/slide" Target="/ppt/slides/slide2.xml" Id="R0abb9cef4a9d45ee" /><Relationship Type="http://schemas.openxmlformats.org/officeDocument/2006/relationships/slide" Target="/ppt/slides/slide3.xml" Id="R41edbcb4528a4dd3" /><Relationship Type="http://schemas.openxmlformats.org/officeDocument/2006/relationships/slide" Target="/ppt/slides/slide4.xml" Id="R7827d17fbfcc4017" /><Relationship Type="http://schemas.openxmlformats.org/officeDocument/2006/relationships/slide" Target="/ppt/slides/slide5.xml" Id="R47084ad2d0764ffd" /><Relationship Type="http://schemas.openxmlformats.org/officeDocument/2006/relationships/slide" Target="/ppt/slides/slide6.xml" Id="R24a65ba3b3ec4d4f" /><Relationship Type="http://schemas.openxmlformats.org/officeDocument/2006/relationships/slide" Target="/ppt/slides/slide7.xml" Id="Rcdce75ebc93345be" /><Relationship Type="http://schemas.openxmlformats.org/officeDocument/2006/relationships/slide" Target="/ppt/slides/slide8.xml" Id="R788723c5f4824b74" /><Relationship Type="http://schemas.openxmlformats.org/officeDocument/2006/relationships/slide" Target="/ppt/slides/slide9.xml" Id="R015cca7af2664a00" /><Relationship Type="http://schemas.openxmlformats.org/officeDocument/2006/relationships/slide" Target="/ppt/slides/slide10.xml" Id="R4b90358a3e884d7d" /><Relationship Type="http://schemas.openxmlformats.org/officeDocument/2006/relationships/slide" Target="/ppt/slides/slide11.xml" Id="Rbaa2ecf1aeb441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cddcf5b0bd45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4d605c48114a81" /><Relationship Type="http://schemas.openxmlformats.org/officeDocument/2006/relationships/notesMaster" Target="/ppt/notesMasters/notesMaster1.xml" Id="R907bb66b8c4540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c14743192246fe" /><Relationship Type="http://schemas.openxmlformats.org/officeDocument/2006/relationships/notesMaster" Target="/ppt/notesMasters/notesMaster1.xml" Id="Rcea38ddcf3e640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c272f0051e4afe" /><Relationship Type="http://schemas.openxmlformats.org/officeDocument/2006/relationships/notesMaster" Target="/ppt/notesMasters/notesMaster1.xml" Id="R8def099816304a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8151c8e72741f9" /><Relationship Type="http://schemas.openxmlformats.org/officeDocument/2006/relationships/notesMaster" Target="/ppt/notesMasters/notesMaster1.xml" Id="R6d56f4f21f3b42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3fc60c6a154930" /><Relationship Type="http://schemas.openxmlformats.org/officeDocument/2006/relationships/notesMaster" Target="/ppt/notesMasters/notesMaster1.xml" Id="Raba66b215b1648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c655bf99f845e3" /><Relationship Type="http://schemas.openxmlformats.org/officeDocument/2006/relationships/notesMaster" Target="/ppt/notesMasters/notesMaster1.xml" Id="Rdf1c0f9e06654a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ea1dbe18eb4d58" /><Relationship Type="http://schemas.openxmlformats.org/officeDocument/2006/relationships/notesMaster" Target="/ppt/notesMasters/notesMaster1.xml" Id="R69e91b309b894e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11725ee7cb49b2" /><Relationship Type="http://schemas.openxmlformats.org/officeDocument/2006/relationships/notesMaster" Target="/ppt/notesMasters/notesMaster1.xml" Id="R0c0643755a6d49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46767407244a0f" /><Relationship Type="http://schemas.openxmlformats.org/officeDocument/2006/relationships/notesMaster" Target="/ppt/notesMasters/notesMaster1.xml" Id="Rd3fd1bd85ddd4d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60c963fc0f400a" /><Relationship Type="http://schemas.openxmlformats.org/officeDocument/2006/relationships/notesMaster" Target="/ppt/notesMasters/notesMaster1.xml" Id="R65d5bd56701046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b4fc8fe70542fc" /><Relationship Type="http://schemas.openxmlformats.org/officeDocument/2006/relationships/notesMaster" Target="/ppt/notesMasters/notesMaster1.xml" Id="Rce7a0f91f01e45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หน้าปกสรุปวัตถุประสงค์ของระบบจากคู่มือและโครงสร้างระบบจริง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สังเคราะห์จากบทนำ หน้าภาพรวมเมือง หน้าแผนที่เมือง และหน้าเหตุการณ์ทั่วไป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Tambon\Screenshot\1_ภาพรวมเมือง\1_ภาพรวม.JPG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models, routes และบริการเชิงพื้นที่ของโปรเจกต์</a:t>
            </a:r>
          </a:p>
          <a:p xmlns:a="http://schemas.openxmlformats.org/drawingml/2006/main">
            <a:br/>
            <a:r>
              <a:t>ภาพหน้าจอ: F:\ESM_doc\SmartCity\Smart Tambon\Screenshot\2_แผนที่เมือง\1_แผนที่เมือง.JPG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อ้างอิงคู่มือหน้าจัดการผู้ใช้ และตรวจสอบ enum role กับ accessible_subdistrict_ids ใน app/models/user.rb</a:t>
            </a:r>
          </a:p>
          <a:p xmlns:a="http://schemas.openxmlformats.org/drawingml/2006/main">
            <a:br/>
            <a:r>
              <a:t>ภาพหน้าจอ: F:\ESM_doc\SmartCity\Smart Tambon\Screenshot\13_จัดการผู้ใช้\1_จัดการผู้ใช้.JPG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สังเคราะห์จากหน้าเหตุการณ์ นำเข้าข้อมูล การตั้งค่าแจ้งเตือน และ routes สำหรับ webhook/SMS</a:t>
            </a:r>
          </a:p>
          <a:p xmlns:a="http://schemas.openxmlformats.org/drawingml/2006/main">
            <a:br/>
            <a:r>
              <a:t>ภาพหน้าจอ: F:\ESM_doc\SmartCity\Smart Tambon\Screenshot\10_นำเข้าข้อมูล\3_จับคู่ข้อมูล.JPG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สรุปหน้าหลักทั้งหมดในคู่มือและยืนยันจาก routes/controllers ของระบบ</a:t>
            </a:r>
          </a:p>
          <a:p xmlns:a="http://schemas.openxmlformats.org/drawingml/2006/main">
            <a:br/>
            <a:r>
              <a:t>ภาพหน้าจอ: F:\ESM_doc\SmartCity\Smart Tambon\Screenshot\6_กิจกรรม\1_กิจกรรมในพื้นที่.JPG</a:t>
            </a:r>
          </a:p>
          <a:p xmlns:a="http://schemas.openxmlformats.org/drawingml/2006/main">
            <a:br/>
            <a:r>
              <a:t>ภาพหน้าจอ: F:\ESM_doc\SmartCity\Smart Tambon\Screenshot\7_ข่าว\1_ข่าวประชาสัมพันธ์.JPG</a:t>
            </a:r>
          </a:p>
          <a:p xmlns:a="http://schemas.openxmlformats.org/drawingml/2006/main">
            <a:br/>
            <a:r>
              <a:t>ภาพหน้าจอ: F:\ESM_doc\SmartCity\Smart Tambon\Screenshot\8_กล้องวงจรปิด\1_กล้องวงจรปิด.JPG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หน้าภัยพิบัติ และ routes acknowledge/promote/assessment/progress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Tambon\Screenshot\3_เหตุการณ์ทั่วไป\1_เหตุการทั่วไป-รอรับเรื่อง.JPG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แผนรับมือ และกฎการประเมินทรัพยากร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Tambon\Screenshot\4_ภัยพิบัติ\3_ประเมินสถานการณ์.JPG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API controllers, access filters, AI services และ models</a:t>
            </a:r>
          </a:p>
          <a:p xmlns:a="http://schemas.openxmlformats.org/drawingml/2006/main">
            <a:br/>
            <a:r>
              <a:t>ภาพหน้าจอ: F:\ESM_doc\SmartCity\Smart Tambon\Screenshot\11_ผู้ช่วย AI\1_ผู้ช่วย AI.JPG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ประโยชน์สรุปจาก workflow ที่ระบบรองรับ ไม่มีการอ้างตัวเลขผลลัพธ์ที่ไม่ได้รับหลักฐาน</a:t>
            </a:r>
          </a:p>
          <a:p xmlns:a="http://schemas.openxmlformats.org/drawingml/2006/main">
            <a:br/>
            <a:r>
              <a:t>ภาพหน้าจอ: F:\ESM_doc\SmartCity\Smart Tambon\Screenshot\9_โครงการ\1_โครงการ.JPG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ตัวอย่างประกอบจากความสามารถที่มีจริงใน public incident report, incidents, assessment, resource rules และ notifications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Tambon\Screenshot\3_เหตุการณ์ทั่วไป\11_แบบฟอร์มประชาชนกรอก.JPG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e21c6daf244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2b1c4004541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5be17e26448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9885debb74c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06c921df748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685980f5148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7883ED-BAE4-4086-8E34-5371BE9E37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1BC6C8-AF94-43ED-AA82-EE2629B61B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F373F5-523B-45DD-9F1C-60F2D1F6B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47577E-1197-404B-9B18-8B7A310A4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4DF026-A194-498A-BC7D-C5E17E27F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B209FA-848F-44E3-8C32-A0A235ECD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354376-2EDD-403C-9A89-409DD5257F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ADF9E5-C90C-42BE-A547-92DD61AE6F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160B4-71DC-4ADD-ADC6-D9CC473A0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B56C5C-1CD5-4C8B-84B1-3C6C829E1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d734d5f4884ce4" /><Relationship Type="http://schemas.openxmlformats.org/officeDocument/2006/relationships/slideLayout" Target="/ppt/slideLayouts/slideLayout1.xml" Id="R4ec4ec2d350a401d" /><Relationship Type="http://schemas.openxmlformats.org/officeDocument/2006/relationships/slideLayout" Target="/ppt/slideLayouts/slideLayout2.xml" Id="R86935bf0c17b467f" /><Relationship Type="http://schemas.openxmlformats.org/officeDocument/2006/relationships/slideLayout" Target="/ppt/slideLayouts/slideLayout3.xml" Id="R7c7910b416544d51" /><Relationship Type="http://schemas.openxmlformats.org/officeDocument/2006/relationships/slideLayout" Target="/ppt/slideLayouts/slideLayout4.xml" Id="Rd5b1a5ee9a8a4594" /><Relationship Type="http://schemas.openxmlformats.org/officeDocument/2006/relationships/slideLayout" Target="/ppt/slideLayouts/slideLayout5.xml" Id="R063afddc7431457c" /><Relationship Type="http://schemas.openxmlformats.org/officeDocument/2006/relationships/slideLayout" Target="/ppt/slideLayouts/slideLayout6.xml" Id="R1ef557604b344f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c4ec2d350a401d"/>
    <p:sldLayoutId xmlns:r="http://schemas.openxmlformats.org/officeDocument/2006/relationships" id="2147483650" r:id="R86935bf0c17b467f"/>
    <p:sldLayoutId xmlns:r="http://schemas.openxmlformats.org/officeDocument/2006/relationships" id="2147483651" r:id="R7c7910b416544d51"/>
    <p:sldLayoutId xmlns:r="http://schemas.openxmlformats.org/officeDocument/2006/relationships" id="2147483652" r:id="Rd5b1a5ee9a8a4594"/>
    <p:sldLayoutId xmlns:r="http://schemas.openxmlformats.org/officeDocument/2006/relationships" id="2147483653" r:id="R063afddc7431457c"/>
    <p:sldLayoutId xmlns:r="http://schemas.openxmlformats.org/officeDocument/2006/relationships" id="2147483654" r:id="R1ef557604b344f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5f803d1724085" /><Relationship Type="http://schemas.openxmlformats.org/officeDocument/2006/relationships/image" Target="/ppt/media/image.png" Id="R75ad1ff897c64c87" /><Relationship Type="http://schemas.openxmlformats.org/officeDocument/2006/relationships/notesSlide" Target="/ppt/notesSlides/notesSlide1.xml" Id="R3004418e6f2641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e16f2686d4047" /><Relationship Type="http://schemas.openxmlformats.org/officeDocument/2006/relationships/image" Target="/ppt/media/image.jpeg" Id="R7cc2587596c84ecc" /><Relationship Type="http://schemas.openxmlformats.org/officeDocument/2006/relationships/notesSlide" Target="/ppt/notesSlides/notesSlide2.xml" Id="R607f19ea5c1647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f1bcc59e84a05" /><Relationship Type="http://schemas.openxmlformats.org/officeDocument/2006/relationships/image" Target="/ppt/media/image2.jpeg" Id="Rc5ccf0fa0ceb4e96" /><Relationship Type="http://schemas.openxmlformats.org/officeDocument/2006/relationships/notesSlide" Target="/ppt/notesSlides/notesSlide3.xml" Id="R8469c56659834e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7827e81b44ab3" /><Relationship Type="http://schemas.openxmlformats.org/officeDocument/2006/relationships/image" Target="/ppt/media/image3.jpeg" Id="Rb86baf187b6d44a3" /><Relationship Type="http://schemas.openxmlformats.org/officeDocument/2006/relationships/notesSlide" Target="/ppt/notesSlides/notesSlide4.xml" Id="R7d526ee75d664f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548857dc44eb9" /><Relationship Type="http://schemas.openxmlformats.org/officeDocument/2006/relationships/image" Target="/ppt/media/image4.jpeg" Id="R9a21cba51eaf4ec9" /><Relationship Type="http://schemas.openxmlformats.org/officeDocument/2006/relationships/notesSlide" Target="/ppt/notesSlides/notesSlide5.xml" Id="Rd1a35b4775a04d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ead60a63e4878" /><Relationship Type="http://schemas.openxmlformats.org/officeDocument/2006/relationships/image" Target="/ppt/media/image5.jpeg" Id="R3ec5ee12ed9b4954" /><Relationship Type="http://schemas.openxmlformats.org/officeDocument/2006/relationships/image" Target="/ppt/media/image6.jpeg" Id="R058408469d04442d" /><Relationship Type="http://schemas.openxmlformats.org/officeDocument/2006/relationships/image" Target="/ppt/media/image7.jpeg" Id="R1aec970837874618" /><Relationship Type="http://schemas.openxmlformats.org/officeDocument/2006/relationships/notesSlide" Target="/ppt/notesSlides/notesSlide6.xml" Id="R8f9f87c3f9f24c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7b0e4a15947da" /><Relationship Type="http://schemas.openxmlformats.org/officeDocument/2006/relationships/image" Target="/ppt/media/image8.jpeg" Id="R3d993f0e411d42f1" /><Relationship Type="http://schemas.openxmlformats.org/officeDocument/2006/relationships/notesSlide" Target="/ppt/notesSlides/notesSlide7.xml" Id="Rbc2e8320d8b24f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999b1d15e45f4" /><Relationship Type="http://schemas.openxmlformats.org/officeDocument/2006/relationships/image" Target="/ppt/media/image9.jpeg" Id="R3dcca5fca53f43fe" /><Relationship Type="http://schemas.openxmlformats.org/officeDocument/2006/relationships/notesSlide" Target="/ppt/notesSlides/notesSlide8.xml" Id="Rd046b6bf21e44b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3101348d246a3" /><Relationship Type="http://schemas.openxmlformats.org/officeDocument/2006/relationships/image" Target="/ppt/media/image10.jpeg" Id="Rbb2730e9ed364b87" /><Relationship Type="http://schemas.openxmlformats.org/officeDocument/2006/relationships/notesSlide" Target="/ppt/notesSlides/notesSlide9.xml" Id="R437487acc5b44e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932d8743e4720" /><Relationship Type="http://schemas.openxmlformats.org/officeDocument/2006/relationships/image" Target="/ppt/media/image11.jpeg" Id="R0fbeee1eb7f84d2e" /><Relationship Type="http://schemas.openxmlformats.org/officeDocument/2006/relationships/notesSlide" Target="/ppt/notesSlides/notesSlide10.xml" Id="R41814cf01a0248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2be5133b94273" /><Relationship Type="http://schemas.openxmlformats.org/officeDocument/2006/relationships/image" Target="/ppt/media/image12.jpeg" Id="R3be9ab13fff444ab" /><Relationship Type="http://schemas.openxmlformats.org/officeDocument/2006/relationships/notesSlide" Target="/ppt/notesSlides/notesSlide11.xml" Id="R42ca1d186cdc47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896E1-970C-4E23-80A6-47F86B8651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d1ff897c64c87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682B0-9E3D-49C4-BC71-DA1EC141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SMART TAMBON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SAFETY THAILAND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725C8-A912-456A-BC85-D04818B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ระบบบริหารจัดการความปลอดภัยอัจฉริยะสำหรับองค์กรปกครองส่วนท้องถิ่น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9A486-83F9-4A73-BB3E-572DDF0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33868-B205-4E50-9469-8615C41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57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ข้อมูลพื้นที่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สถานการณ์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การตัดสินใจ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0EFDB-2EFB-47E7-BD91-852D9D0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ภาพรวมระบบ</a:t>
            </a:r>
          </a:p>
        </p:txBody>
      </p:sp>
    </p:spTree>
    <p:extLst>
      <p:ext uri="{BB962C8B-B14F-4D97-AF65-F5344CB8AC3E}">
        <p14:creationId xmlns:p14="http://schemas.microsoft.com/office/powerpoint/2010/main" val="1466045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117A9-A546-4E89-8AFD-A3B355DF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บริบท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E7E5-7AEB-40D3-A178-477A0947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โจทย์ของการบริหารความปลอดภัยระดับตำบล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4964F-C7B5-4A8A-B20B-80BB2C8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9847B-8558-433E-BEA6-9A258C3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DCC7A-FC1A-4727-A38D-939A69F0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BB71B-7390-474E-9A2E-0B9E54B9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>
            <a:def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ข้อมูลกระจายหลายแหล่ง ทำให้การเห็นภาพรวมและสั่งการใช้เวลานาน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3A55E-B378-498C-952C-7D11C57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1CEB-1DFD-4F53-A368-D5DE9C2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เหตุแจ้งเข้ามาหลายช่องทางและมีระดับความเร่งด่วนต่างกัน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5736B-4FEB-4DE6-917F-3AF41C5D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8EAC9-2449-46FB-9D56-4F42056E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 สภาพอากาศ เซนเซอร์ ทีม และทรัพยากรอยู่คนละระบบ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F0A2B-FFDE-460A-8701-9360960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D65FA-2921-4A1A-A61B-1934AD6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การติดตามสถานะและการสื่อสารกับประชาชนต้องอาศัยข้อมูลล่าสุด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BE543-6442-4FF6-BEF2-85FF5F7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524250" cy="3714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99629-A99B-4BF1-84BE-100D099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เป้าหมาย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4C46A-9851-41FF-B821-47D3F2D6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รวมข้อมูลที่จำเป็น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ให้เจ้าหน้าที่เห็นสถานการณ์เดียวกัน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และทำงานต่อเนื่องจากรับแจ้งถึงปิดเหตุ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A24D9-445E-44DD-8CC6-8C98ACEB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24000"/>
            <a:ext cx="4286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214FA-A8E5-4027-A619-215CB8C8E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2587596c84ecc"/>
          <a:srcRect xmlns:a="http://schemas.openxmlformats.org/drawingml/2006/main" l="8008" t="0" r="80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91375" y="1619250"/>
            <a:ext cx="409575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F5CF4-6C24-4E51-A637-2C18C956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624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3C7B0-7DE3-46F9-97CD-5C61A59E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90975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ภาพรวมเมืองและสถานการณ์ล่าสุด</a:t>
            </a:r>
          </a:p>
        </p:txBody>
      </p:sp>
    </p:spTree>
    <p:extLst>
      <p:ext uri="{BB962C8B-B14F-4D97-AF65-F5344CB8AC3E}">
        <p14:creationId xmlns:p14="http://schemas.microsoft.com/office/powerpoint/2010/main" val="137438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29A92-3D55-4C41-8431-16E3D87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ระบบคืออะไร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EE96-17C1-4724-9956-D2D4E02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SMART TAMBON คือศูนย์กลางการทำงานของพื้นที่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2E26A-817F-4325-82E7-9EE8380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67254-2BEB-4442-890F-DD9ACC3D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750B7-8E09-421D-B67B-6BBDF5A4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3048C-FE20-4C8B-9A6F-A4DDBF0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ระบบเชื่อมข้อมูลเชิงพื้นที่ สถานการณ์ และการปฏิบัติงานไว้ในเว็บเดียว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1CA29-6D50-47B4-808F-3A80611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C6E8C-F670-470D-A67D-BC78606E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4EA67-F678-4909-A67D-D2063CE5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62111-8A22-4491-BE78-592AC929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เห็นพื้นที่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20B38-B314-45A7-A60B-37742547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ขอบเขต แผนที่ และสถานที่สำคัญ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D4A45-7191-4CB0-B19D-299A127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32092-E014-407C-9BDC-614D4B6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68BEA-4A7A-4A6D-ADCD-7DB0ECB6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B95D2-DB3E-4ADB-9734-D9F426C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91696-8902-455B-B004-495E76A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เหตุทั่วไป ภัยพิบัติ และกิจกรรม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0062A-423E-44E9-A740-79B67D3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C7F34-74A8-4E00-AD23-D15C3627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27240-E44D-4781-83AE-E63703A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9D254-93E6-4843-A5F6-040591C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วางแผน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06FD0-6EC8-4233-BCFB-935004F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ประเมินผลกระทบ ทีม และทรัพยากร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F4217-C5F3-428E-AFEC-9B18014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58168-7BD9-484E-9F7E-E698260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3C79A-438D-4F45-9E21-9C45CCE4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CBFBB-8443-44FF-B9F6-899C3A2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ความคืบหน้า และการสื่อสาร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75F92-A9E0-4C82-9A8F-F3DB62BD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รองรับข้อมูลทั้ง PostgreSQL/PostGIS สำหรับขอบเขตเชิงพื้นที่ และ Mongoid สำหรับข้อมูลที่ยืดหยุ่นตามประเภทงาน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2B811-6A57-4245-9D29-D5EB691D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51435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37194F-6BE6-4550-AAA1-930F9EC32D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cf0fa0ceb4e96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2333625"/>
            <a:ext cx="49530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48AFC-FC29-494F-AC88-69F94C5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244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54E420-28EA-4678-9741-501F890F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529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แผนที่เมืองและชั้นข้อมูล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58087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8A3C8-C22E-407B-9FC3-7A65328B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กลุ่มผู้ใช้งาน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D2D5D-B03C-4001-8C30-761873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ผู้ใช้งานและขอบเขตสิทธิ์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71CF3-BE5C-44C4-97B2-F1D6FD35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F7C2A-E70A-47A9-A071-8E8EDDC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CBF0B-5EDA-441F-AE94-345EA251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D2D27-6C1E-4DC6-9402-80009F0B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4F32-BCBF-4D52-8F74-0A4C12E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57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ผู้ดูแลระบบส่วนกลาง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DFAE1-2931-42BC-87AB-681E21A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ดูแลหลายหน่วยงาน ตั้งค่าระบบ และตรวจสถานะบริการ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1DED-499C-4E33-9342-AC7F9B7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43C7D-9765-4926-A9A8-CC55E9F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D8FC5-3D4C-4E33-AF82-F047226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384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ผู้ดูแลประจำ อบต.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AD37B-FDAE-40D9-B27C-0B0109E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จัดการผู้ใช้ ข้อมูลหน่วยงาน ช่องทางแจ้งเตือน และพื้นที่ของตน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80471-9BA4-4DE6-B490-60A9130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7A21-A5E8-492E-8DEE-758BD7C6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DF632-FD3F-4253-9751-30BFBF30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เจ้าหน้าที่ประจำ อบต.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2C0DD-E1DB-4CEA-86E2-5CD5126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รับแจ้งเหตุ อัปเดตงาน วิเคราะห์ข้อมูล และใช้เครื่องมือตามสิทธิ์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4CE55-502B-42B0-96DA-0FA6B492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BFA31-3EA6-4ACC-852B-AC191077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38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>
            <a:def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ทุกบัญชีทำงานตามบทบาทและขอบเขตพื้นที่ที่ได้รับอนุญาต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1D4A93-D25E-4A59-88EB-3BCE6149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6DC82-23C4-437B-9DDC-C4EED4DCA7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baf187b6d44a3"/>
          <a:srcRect xmlns:a="http://schemas.openxmlformats.org/drawingml/2006/main" l="1172" t="0" r="11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571625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54081-A417-43B3-8348-DDFA56E1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F4C9B-BA32-42F7-8FA2-2A23A6C4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จัดการบัญชีและขอบเขตพื้นที่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586798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00F94-DC27-44EC-9520-9343502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ภาพรวมกระบวนการ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C607-0C7E-4346-9C45-069CB2E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แนวคิดการทำงานจากข้อมูลสู่การปฏิบัติ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9CA57-3E3D-4737-BAE1-7C7AAEA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DB2B9-E5B4-4AC5-979C-5414A4B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7F959-749C-4EC7-BDF1-CC7A2551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C34DD-C4FF-44C0-84B9-0396391A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3E490-F6FE-41FB-AF3E-59A0FBA7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2A901-7CF1-4A4D-8F99-4CBEC6C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C9C2A-8DD8-4B24-B5F3-A363FF45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BBC7B-B471-42C8-9D77-0A42F716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 เจ้าหน้าที่ เซนเซอร์ และไฟล์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ED998-E7AB-41F0-8759-0A99368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19CDC-50C7-4201-B4EA-2FEE50A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E0D41-3286-46CE-AEC2-7A483C2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9D31E-477B-4974-A61B-0E6D785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8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สร้างภาพรวม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83EDB-7A5E-472B-BA11-00852ACE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แผนที่ สภาพอากาศ สถานะเหตุ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9098A-066C-4CB3-9845-80D698C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60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F7F14-B452-4A5C-9CCA-DDF0587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9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1A313-BADF-45D6-9B9F-B9AD9EE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3F918-85F3-40C6-97CD-316E9D12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64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7BCF8-3D05-44B4-8B98-A341873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พื้นที่กระทบ กำลัง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2097B-2120-4A8B-A220-A2AD6CA5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D9495-DCE0-4EAE-B7BC-3833EA37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15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79C5F-AC1C-4E70-9BFE-7480848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DE243-527F-4437-9ACB-FDE200A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40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9A79C-85F7-4ED0-90C8-2E6EA05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ติดตาม และบันทึกผล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E5349-6922-4CE5-B863-10E95A9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1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12CC8-DDED-47CC-9443-990C1F9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1EC5B2-6F03-417B-A2D6-92A8DFB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16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C2CFD-A289-47D5-AE64-53F7B528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OA, SMS และข่าวประชาสัมพันธ์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203C0-204F-4B2F-A422-39E2520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ข้อมูลเดิมยังใช้ต่อได้ผ่านการนำเข้าและการจัดรุ่นข้อมูล ขณะที่ข้อมูลใหม่เชื่อมเข้าสู่ workflow เดียวกัน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52FECE-2913-4458-9168-D520B2D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11144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44155E-E4E5-40F1-A58B-E568EFA9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ข้อมูลเดิมเข้าสู่ระบบผ่านการตรวจสอบและจับคู่คอลัมน์ ก่อนเชื่อมกับ workflow เดียวกัน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484C51-E528-4DB3-B83C-8FBB31C7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90875"/>
            <a:ext cx="4667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EB1635-5C46-411D-A936-8212936A3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1cba51eaf4ec9"/>
          <a:srcRect xmlns:a="http://schemas.openxmlformats.org/drawingml/2006/main" l="0" t="19187" r="0" b="19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0375" y="3286125"/>
            <a:ext cx="4476750" cy="2428875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EA3EA1-3E11-41EF-A518-957F96F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911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E13BF0-0CDF-470D-A9E2-5E2E9C3A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1972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ตรวจสอบและจับคู่ข้อมูลก่อนนำเข้า</a:t>
            </a:r>
          </a:p>
        </p:txBody>
      </p:sp>
    </p:spTree>
    <p:extLst>
      <p:ext uri="{BB962C8B-B14F-4D97-AF65-F5344CB8AC3E}">
        <p14:creationId xmlns:p14="http://schemas.microsoft.com/office/powerpoint/2010/main" val="148546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16986-D263-434F-8F95-F174EAB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ภาพรวมฟีเจอร์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7E658-D5A3-4580-A88F-4D34D8B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ความสามารถหลักของระบบ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BB17-F7DD-4292-A552-1D64164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A272D-7586-4F53-829B-FB774C3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37005-20B3-441D-ACCD-E472E06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28B51-B2E7-429C-9902-A260B38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เฝ้าระวัง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FE15C-17D4-4712-A914-91E9FC5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ภาพรวมเมือง แผนที่ สภาพอากาศ PM2.5 น้ำ ฝน และจุดความร้อน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2500D-8CAF-4EEA-9F31-84497641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FCA24-DC9E-45BA-A2C9-509F7AB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ตอบสนองเหตุ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34976-D535-4BA1-904F-0AA98B9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 มอบหมาย ประเมิน ติดตามทรัพยากร และปิดงาน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D50F1-D407-4DF4-91F9-C827DB5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E0E42-9C2E-4CBC-B106-6FFC6BF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เตรียมพร้อม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03A2A-A7D2-4CEF-98F9-B1877C0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แผนรับมือ กฎทรัพยากร ทีม วัสดุ และสถานที่สำคัญ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3623E-F3F7-4972-AC59-0CCDDC1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11FFE-0B49-4C5A-B060-7585BED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บริหารพื้นที่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F978F-D6C1-4614-A1A1-14512C8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 โครงการ CCTV ข้อมูลประชากร และชุดข้อมูลหน่วยงาน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2B101-0AAD-4629-8F07-00C61FA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E1BE0-42C0-4F95-A115-45A25B4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ED066-54D2-46B6-AF95-2EBA797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เทมเพลต SMS ข่าวประชาสัมพันธ์ เสียง และสื่อภาพ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DF6C3-D62D-4ED0-8DAD-3C3FFD48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6D0A4-6048-4DD4-A9C9-5C73F622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วิเคราะห์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42BD0-89C5-4F1D-8B78-2FE614A9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รายงาน ตาราง ตัวชี้วัด กราฟ และบันทึกผลวิเคราะห์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73C0B-8C7B-4E64-88F0-C8A2971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E8479-B3BC-49B5-B42C-453B098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11239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80A30-DC41-4D98-8677-6DD7F72F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DAD163-46A3-4641-94B2-4657D25E5E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5ee12ed9b4954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21B73E-7CFC-49DE-B658-0403B801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กิจกรรมในพื้นที่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3C055A-B947-4772-B62B-084F6DDE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E64ABD-6785-4490-8178-5DA88294D0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408469d04442d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426021-D77A-4E36-81BC-865E08B8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E30D2-B2E0-4F83-8FE5-8928232F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03F071-3A7A-40A0-9006-C10E0D905F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c970837874618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621DFC-78C8-4A31-BF2F-76B6DCDD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</p:spTree>
    <p:extLst>
      <p:ext uri="{BB962C8B-B14F-4D97-AF65-F5344CB8AC3E}">
        <p14:creationId xmlns:p14="http://schemas.microsoft.com/office/powerpoint/2010/main" val="1097408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E6B26-7D6B-46A7-96F5-C2565B12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การปฏิบัติงาน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5A753-6A92-4EE8-B624-885E107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วงจรการจัดการเหตุการณ์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C248-4DE9-478E-ACA2-E7656D7D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9E295-4293-493F-AD4C-D951EABB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099FD-BDC3-4D2F-9FF9-C112448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8DE9-1CE4-4AF6-90DD-FA9AE02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AED9D-98E1-4BD2-90FB-DFB551AA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005CF-AC61-414E-9CB9-BFF0FC0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77D9F-F074-4638-91D5-3FD7CCD9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รับแจ้ง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34329-701B-42C3-9EE8-781639B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บันทึกเหตุและตำแหน่ง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8E5E9-0E0D-4731-AFF5-4CBB90E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EB3BB-24D1-4671-8773-77C7BB9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DF03F-B76E-4F6A-B207-D127F4F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894A5-988A-4CA4-B7D3-E6FC3EC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57075-DF00-4443-A5DF-C8A2184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ยืนยันข้อมูลและความเร่งด่วน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F628E-3380-4D15-9D60-BA725C8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3AC86-E85F-4F44-A321-5ED997A8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2CF7F-30B1-4F6B-AE8B-0748099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ACFFE-6095-4AF4-85E7-239C0FD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26D4E-A506-47FD-AC59-BD176ABA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กำหนดผู้รับผิดชอบ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864B2-9C65-4FEE-BB75-8D315DF0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DB430-E158-45A0-A387-028523A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5271F-31C6-4275-9472-1F2EAE3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3F63E-92EC-440B-AD66-61F48F8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7BA82-DBD8-488F-9DB5-14AF929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บันทึกความคืบหน้าและการใช้ทรัพยากร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EE8F2-34AA-4692-AB13-13AB5B1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FCAFB-5BD8-4C1C-BECF-11A894C5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55AE51-3CB0-477D-9B4C-4CEDC7C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ปิดเหตุ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A019D-1DB4-4937-B93F-54241FF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สรุปผลและเก็บประวัติ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E0E273-CD3A-451A-BAE2-AB904931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DDC43-D023-4133-96A5-1C06551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38600"/>
            <a:ext cx="790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เหตุที่รุนแรงสามารถยกระดับเป็นภัยพิบัติ เพื่อประเมินพื้นที่กระทบและใช้แผนรับมืออย่างเป็นระบบ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11FB73-4934-477A-8763-91814783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5762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A46217-34EF-4726-89C5-4F621D30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5334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A22B0C-2DFC-4F01-BFAB-FA209EFCE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93f0e411d42f1"/>
          <a:srcRect xmlns:a="http://schemas.openxmlformats.org/drawingml/2006/main" l="0" t="899" r="0" b="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190875"/>
            <a:ext cx="514350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DE94C0-5CEE-4DF2-AEC3-BADA9352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2927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D2CE93-682F-4DDC-B8BD-19D908A4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5785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รายการเหตุและรายละเอียดการรับเรื่อง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1637774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24D80-AFF4-41F7-AA4C-12F9B0EE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5A9C6-3738-4466-A384-AA0B87C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การประเมินภัยและความพร้อมของทรัพยากร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03E26-764B-4E4F-8A14-D9552F5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22D4C-5943-4409-AF4B-AAB30F2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243FB-96CC-47FC-90EB-92BB4498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BD036-E8BE-4523-B10E-B63E30B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ระบบวางข้อมูลภัยบนแผนที่ แล้วคำนวณสิ่งที่ต้องใช้เทียบกับสิ่งที่พร้อมจริง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6C516-BBAA-4693-92D2-B2654F8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3505A-B237-4C68-A4E4-5908278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พื้นที่กระทบ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A7B01-6534-4949-8D15-BABACC3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วาดขอบเขตหรือใช้พื้นที่จากเหตุ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ตรวจสถานที่สำคัญและประชากร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F2678-06D3-4CBB-9A5D-7291371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E776D-9C76-4954-97C6-71B7778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8F5E5-F60F-414A-A1B5-D32F06A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กำหนดเงื่อนไขตามประเภทภัย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คำนวณทีม อุปกรณ์ และวัสดุ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FAEE7-59E7-4385-98EB-CA18D79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12576-2E3C-4F3B-A2A4-C799DA89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045EB-7B7A-41F2-95E6-9B7B874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จัดเก็บหลาย Version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เลือกฉบับพร้อมใช้และปรับตามสถานการณ์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39A07-60C0-4155-B4DE-C543AF78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5762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8A6BD-B2D5-4625-83E3-31146E7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E7D6D-9BE9-4A0A-AC3F-E04A5A1C6C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ca5fca53f43fe"/>
          <a:srcRect xmlns:a="http://schemas.openxmlformats.org/drawingml/2006/main" l="0" t="130" r="0" b="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238375"/>
            <a:ext cx="52387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4E619-61AD-4E56-AC39-F684AB5E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F75EB-5108-4F78-BE29-FF3BA553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501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ประเมินพื้นที่กระทบและทรัพยากร</a:t>
            </a:r>
          </a:p>
        </p:txBody>
      </p:sp>
    </p:spTree>
    <p:extLst>
      <p:ext uri="{BB962C8B-B14F-4D97-AF65-F5344CB8AC3E}">
        <p14:creationId xmlns:p14="http://schemas.microsoft.com/office/powerpoint/2010/main" val="2068629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18211-D7C4-40B7-9AE9-7CD9FF6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03AA1-1A9D-4208-9CB3-1441707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 แผนที่ และ AI ทำงานบนฐานสิทธิ์เดียวกัน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1CFFD-88CC-4C1B-ACC9-A369B461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C0E47-5E3A-4EEC-AD05-CBA72EBA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28A64-B9DF-418A-9352-5869B18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4AF79-AC0D-433A-BB61-1234DBE3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67349-BE8D-420B-98DD-08F5271D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ข้อมูลปฏิบัติการ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467C1-350D-4452-AF8E-F1AD964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เครื่องมือวิเคราะห์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A2036-0429-438F-BD2F-E236D37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F80EE-3548-473C-848E-3912414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D2197-2AC3-4806-9CC8-5B1B0E6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A5261-DDD2-4249-A4F6-F80C9DB9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2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PostGIS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ขอบเขตและการคำนวณพื้นที่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แผนที่ฐานและชั้นข้อมูล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DC9A4-004A-4EFA-86BF-DA0D162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0"/>
          </a:bodyPr>
          <a:lstStyle xmlns:a="http://schemas.openxmlformats.org/drawingml/2006/main">
            <a:def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Mongoid และฐานข้อมูลระบบ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 เซนเซอร์ แผน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ชุดข้อมูลและประวัติการทำงาน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EA412-6224-42A9-A71E-6D36A6D7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66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สรุปข้อมูลที่ผู้ใช้มีสิทธิ์เห็น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เก็บและรันผลวิเคราะห์ใหม่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69B0C-8FFF-4BD8-A9D7-B68B34D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API และบริการนำเข้าช่วยเชื่อมข้อมูลจากภายนอก โดยระบบยังคงตรวจสอบขอบเขตการเข้าถึง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FF1AB-6879-4459-8C52-6656FF8E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2863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66919-7771-44BC-A5B9-85605CC5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11144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443D5-1281-4C74-A13C-A2800479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857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EFAB3-C617-486C-A321-2B4D426914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730e9ed364b87"/>
          <a:srcRect xmlns:a="http://schemas.openxmlformats.org/drawingml/2006/main" l="3798" t="0" r="37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238375"/>
            <a:ext cx="466725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4B344-506D-4489-8F8B-2C8DADF6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046EE-D33E-416D-822C-34CA2E2C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053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ผู้ช่วย AI วิเคราะห์ข้อมูลตามสิทธิ์</a:t>
            </a:r>
          </a:p>
        </p:txBody>
      </p:sp>
    </p:spTree>
    <p:extLst>
      <p:ext uri="{BB962C8B-B14F-4D97-AF65-F5344CB8AC3E}">
        <p14:creationId xmlns:p14="http://schemas.microsoft.com/office/powerpoint/2010/main" val="928125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51F5F-DBE8-42D6-BD9E-467E6093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คุณค่าของระบบ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38180-C21D-420F-814D-C2AE2436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ประโยชน์ที่ผู้บริหารและทีมปฏิบัติการได้รับ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14F1D-B8F2-4977-B182-703FDF2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CC18F-DCC2-49C7-A774-21AD7E4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17697-E849-4D05-8FEB-9510A3D4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64F33-CDF9-40E2-94F9-29F56A98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D4909-B5AC-4C34-B523-01B2A99F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เห็นสถานการณ์ พื้นที่ และงานค้างร่วมกัน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739F3-F717-41D3-AD84-B5BB4E0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ขั้นตอนเดียว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22874-3355-48C1-9F58-F5352A8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25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เชื่อมรับแจ้ง ประเมิน มอบหมาย และติดตาม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00BE5-6E30-4A06-A695-4E7AD3B3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ข้อมูลต่อเนื่อง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04334-2EA2-489F-B5A2-2142FEEE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08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เก็บประวัติ รุ่นข้อมูล และผลวิเคราะห์เพื่อใช้ซ้ำ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FDC4D-4105-483D-A06A-519016B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90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79ED8-4F0A-4063-9CB8-83BE7F6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ผลลัพธ์ที่คาดหวัง คือการตัดสินใจที่อ้างอิงข้อมูลล่าสุด ลดเวลาประสานงาน และอธิบายสถานการณ์ต่อผู้เกี่ยวข้องได้ชัดเจนขึ้น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453B3-C78F-46B3-A1FF-FE1C42B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10763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FA2DE-AF3F-4746-8FDA-DDEC62AE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งบประมาณและสถานะโครงการเชื่อมกับตำแหน่งบนแผนที่ เพื่อให้ผู้บริหารติดตามภาพรวมได้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265A1-9EF6-4238-9E10-03D1886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5334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A87A4-E211-42E5-B11B-0607AFDC83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eee1eb7f84d2e"/>
          <a:srcRect xmlns:a="http://schemas.openxmlformats.org/drawingml/2006/main" l="0" t="1746" r="0" b="1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143250"/>
            <a:ext cx="51435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663D2-F190-446E-AC4C-5535364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3402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4A20B-09D1-4CBD-B33E-75ACD81A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ติดตามงบประมาณและความคืบหน้าโครงการ</a:t>
            </a:r>
          </a:p>
        </p:txBody>
      </p:sp>
    </p:spTree>
    <p:extLst>
      <p:ext uri="{BB962C8B-B14F-4D97-AF65-F5344CB8AC3E}">
        <p14:creationId xmlns:p14="http://schemas.microsoft.com/office/powerpoint/2010/main" val="1976937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2CF498-B01C-4772-9B8B-5A56696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สถานการณ์ตัวอย่าง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A9766-1CB7-4383-8EAD-C4F2401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ตัวอย่างการใช้งานเมื่อเกิดน้ำท่วมฉับพลัน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DD26E-3E49-4590-B465-F58EAB9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68025-D30F-4DCF-95A1-6E145EA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6EECC-A5BE-49DF-81BF-B7AE033E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E964C-47FB-41AB-8137-3C43BD9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A8E51-9F2B-494E-913B-EDA750CB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853FB-41B3-462E-8283-12B617A9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724A3-014E-4B3E-9230-3E682ED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61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ประชาชนแจ้งเหตุ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BC830-7CC0-457E-B671-8FB4AE5B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ส่งข้อมูลและตำแหน่งผ่านลิงก์สาธารณะ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E0E08-C77C-4F4F-9A45-71F4540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9028-C741-4008-A28B-2E69272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A68D6-9FBA-4910-82D1-6D54C4F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822FE-52E6-4C43-906E-756C247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เจ้าหน้าที่รับเรื่อง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9D012-31B5-447A-AC25-C59413F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ตรวจรายละเอียดและกำหนดความเร่งด่วน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1FD6E-F7C1-4429-BB83-83DEA742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41B76-53F9-48E5-9564-7904F4F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078F3-F7F5-445A-BB4A-CEACC38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45CCD-9DD6-4AB1-9355-D76897A7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ประเมินพื้นที่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90308-229D-4DC2-8F7F-DA4AC1EE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9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ดูขอบเขตกระทบ ประชากร และสถานที่สำคัญ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9937F-BC5E-414C-8228-EAF73F7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BBACF-5839-4F59-A925-5ED1DBC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32BCC-8B6B-45BD-AFC2-3AC80323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210BE-6657-47A4-AAB3-40F785ED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7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จัดทีมและอุปกรณ์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4042E-07C6-445E-9050-EF3BCF48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เทียบความต้องการกับทรัพยากรพร้อมใช้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668D1-AB08-4CF7-8240-9C269312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20B0F-4EEB-4761-B8B2-7437A1C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6C2E4-F5D7-46ED-A015-48F43DD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18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ติดตามและสื่อสาร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DA6475-7849-4ADA-84AE-2A029DA6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อัปเดตงาน ส่งแจ้งเตือน 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61DEB-56E6-4DF6-9457-A287B259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ผู้บริหารเห็นสถานะเดียวกับทีมภาคสนาม ขณะที่ประชาชนได้รับข้อมูลจากช่องทางที่หน่วยงานกำหนด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40F4A-0818-439F-B5B3-85552B2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ระบบพร้อมขยายจากการรับมือเหตุ ไปสู่การเตรียมแผนและจัดการข้อมูลพื้นที่อย่างต่อเนื่อง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A40B7-2BE2-4B80-A7C2-7325BBAD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11191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247F57-D82C-468A-B897-57690D28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ประชาชนส่งรายละเอียดและตำแหน่ง</a:t>
            </a:r>
          </a:p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เจ้าหน้าที่รับเรื่อง ประเมิน และติดตามจนปิดเหตุ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7F10D0-5A96-4A39-B206-845E3333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C3C4B1-2B98-4F1D-A784-2A5910E780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9ab13fff444ab"/>
          <a:srcRect xmlns:a="http://schemas.openxmlformats.org/drawingml/2006/main" l="5339" t="0" r="53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952750"/>
            <a:ext cx="46672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65BCCE-6277-4DD8-9609-DEF084DC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66DFE2-DED7-453C-828D-D3F81C29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1497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แบบฟอร์มแจ้งเหตุสำหรับประชาชน</a:t>
            </a:r>
          </a:p>
        </p:txBody>
      </p:sp>
    </p:spTree>
    <p:extLst>
      <p:ext uri="{BB962C8B-B14F-4D97-AF65-F5344CB8AC3E}">
        <p14:creationId xmlns:p14="http://schemas.microsoft.com/office/powerpoint/2010/main" val="537429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2026-10-28T23:36:47.2300000Z</dcterms:created>
  <dcterms:modified xsi:type="dcterms:W3CDTF">2026-10-28T23:36:47.2300000Z</dcterms:modified>
</coreProperties>
</file>