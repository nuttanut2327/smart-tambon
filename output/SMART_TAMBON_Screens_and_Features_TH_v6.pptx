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d396576df1c4a2c" /><Relationship Type="http://schemas.openxmlformats.org/officeDocument/2006/relationships/extended-properties" Target="/docProps/app.xml" Id="R4a44093d29b6410c" /><Relationship Type="http://schemas.openxmlformats.org/officeDocument/2006/relationships/officeDocument" Target="/ppt/presentation.xml" Id="R375b0bbf42e946f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6f77c942d0a4470"/>
  </p:sldMasterIdLst>
  <p:notesMasterIdLst>
    <p:notesMasterId xmlns:r="http://schemas.openxmlformats.org/officeDocument/2006/relationships" r:id="R4950d6b059404d3e"/>
  </p:notesMasterIdLst>
  <p:sldIdLst>
    <p:sldId xmlns:r="http://schemas.openxmlformats.org/officeDocument/2006/relationships" id="256" r:id="R99d6f549b45345f2"/>
    <p:sldId xmlns:r="http://schemas.openxmlformats.org/officeDocument/2006/relationships" id="257" r:id="Rf8ad72b9365a4e86"/>
    <p:sldId xmlns:r="http://schemas.openxmlformats.org/officeDocument/2006/relationships" id="258" r:id="R6c403c57397e4672"/>
    <p:sldId xmlns:r="http://schemas.openxmlformats.org/officeDocument/2006/relationships" id="259" r:id="R308fbdb3fab148e1"/>
    <p:sldId xmlns:r="http://schemas.openxmlformats.org/officeDocument/2006/relationships" id="260" r:id="Rcf20547022964b01"/>
    <p:sldId xmlns:r="http://schemas.openxmlformats.org/officeDocument/2006/relationships" id="261" r:id="R6f4ae7fc83c34457"/>
    <p:sldId xmlns:r="http://schemas.openxmlformats.org/officeDocument/2006/relationships" id="262" r:id="Ra8da58980cc340fd"/>
    <p:sldId xmlns:r="http://schemas.openxmlformats.org/officeDocument/2006/relationships" id="263" r:id="R448bee92d1774e63"/>
    <p:sldId xmlns:r="http://schemas.openxmlformats.org/officeDocument/2006/relationships" id="264" r:id="R10a0ad388a4244bf"/>
    <p:sldId xmlns:r="http://schemas.openxmlformats.org/officeDocument/2006/relationships" id="265" r:id="R4e395e3158ca40cf"/>
    <p:sldId xmlns:r="http://schemas.openxmlformats.org/officeDocument/2006/relationships" id="266" r:id="R5e4f9eef12244d62"/>
    <p:sldId xmlns:r="http://schemas.openxmlformats.org/officeDocument/2006/relationships" id="267" r:id="Re7d5d527e49f4698"/>
    <p:sldId xmlns:r="http://schemas.openxmlformats.org/officeDocument/2006/relationships" id="268" r:id="R4d590b916e9d46c1"/>
    <p:sldId xmlns:r="http://schemas.openxmlformats.org/officeDocument/2006/relationships" id="269" r:id="Rbb67f7f2ea574e2c"/>
    <p:sldId xmlns:r="http://schemas.openxmlformats.org/officeDocument/2006/relationships" id="270" r:id="R0b9e61cc74634035"/>
    <p:sldId xmlns:r="http://schemas.openxmlformats.org/officeDocument/2006/relationships" id="271" r:id="R71127c054e294c0d"/>
    <p:sldId xmlns:r="http://schemas.openxmlformats.org/officeDocument/2006/relationships" id="272" r:id="R5c314aa012ad4a58"/>
    <p:sldId xmlns:r="http://schemas.openxmlformats.org/officeDocument/2006/relationships" id="273" r:id="Rcffced186cbe4995"/>
    <p:sldId xmlns:r="http://schemas.openxmlformats.org/officeDocument/2006/relationships" id="274" r:id="Ra85f2ff1e9f84ea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9c700facfaa4fd8" /><Relationship Type="http://schemas.openxmlformats.org/officeDocument/2006/relationships/slideMaster" Target="/ppt/slideMasters/slideMaster1.xml" Id="Rc6f77c942d0a4470" /><Relationship Type="http://schemas.openxmlformats.org/officeDocument/2006/relationships/notesMaster" Target="/ppt/notesMasters/notesMaster1.xml" Id="R4950d6b059404d3e" /><Relationship Type="http://schemas.openxmlformats.org/officeDocument/2006/relationships/presProps" Target="/ppt/presProps.xml" Id="R3e4c6f8787584e2e" /><Relationship Type="http://schemas.openxmlformats.org/officeDocument/2006/relationships/tableStyles" Target="/ppt/tableStyles.xml" Id="Rc28b5d58835b4f2d" /><Relationship Type="http://schemas.openxmlformats.org/officeDocument/2006/relationships/slide" Target="/ppt/slides/slide1.xml" Id="R99d6f549b45345f2" /><Relationship Type="http://schemas.openxmlformats.org/officeDocument/2006/relationships/slide" Target="/ppt/slides/slide2.xml" Id="Rf8ad72b9365a4e86" /><Relationship Type="http://schemas.openxmlformats.org/officeDocument/2006/relationships/slide" Target="/ppt/slides/slide3.xml" Id="R6c403c57397e4672" /><Relationship Type="http://schemas.openxmlformats.org/officeDocument/2006/relationships/slide" Target="/ppt/slides/slide4.xml" Id="R308fbdb3fab148e1" /><Relationship Type="http://schemas.openxmlformats.org/officeDocument/2006/relationships/slide" Target="/ppt/slides/slide5.xml" Id="Rcf20547022964b01" /><Relationship Type="http://schemas.openxmlformats.org/officeDocument/2006/relationships/slide" Target="/ppt/slides/slide6.xml" Id="R6f4ae7fc83c34457" /><Relationship Type="http://schemas.openxmlformats.org/officeDocument/2006/relationships/slide" Target="/ppt/slides/slide7.xml" Id="Ra8da58980cc340fd" /><Relationship Type="http://schemas.openxmlformats.org/officeDocument/2006/relationships/slide" Target="/ppt/slides/slide8.xml" Id="R448bee92d1774e63" /><Relationship Type="http://schemas.openxmlformats.org/officeDocument/2006/relationships/slide" Target="/ppt/slides/slide9.xml" Id="R10a0ad388a4244bf" /><Relationship Type="http://schemas.openxmlformats.org/officeDocument/2006/relationships/slide" Target="/ppt/slides/slide10.xml" Id="R4e395e3158ca40cf" /><Relationship Type="http://schemas.openxmlformats.org/officeDocument/2006/relationships/slide" Target="/ppt/slides/slide11.xml" Id="R5e4f9eef12244d62" /><Relationship Type="http://schemas.openxmlformats.org/officeDocument/2006/relationships/slide" Target="/ppt/slides/slide12.xml" Id="Re7d5d527e49f4698" /><Relationship Type="http://schemas.openxmlformats.org/officeDocument/2006/relationships/slide" Target="/ppt/slides/slide13.xml" Id="R4d590b916e9d46c1" /><Relationship Type="http://schemas.openxmlformats.org/officeDocument/2006/relationships/slide" Target="/ppt/slides/slide14.xml" Id="Rbb67f7f2ea574e2c" /><Relationship Type="http://schemas.openxmlformats.org/officeDocument/2006/relationships/slide" Target="/ppt/slides/slide15.xml" Id="R0b9e61cc74634035" /><Relationship Type="http://schemas.openxmlformats.org/officeDocument/2006/relationships/slide" Target="/ppt/slides/slide16.xml" Id="R71127c054e294c0d" /><Relationship Type="http://schemas.openxmlformats.org/officeDocument/2006/relationships/slide" Target="/ppt/slides/slide17.xml" Id="R5c314aa012ad4a58" /><Relationship Type="http://schemas.openxmlformats.org/officeDocument/2006/relationships/slide" Target="/ppt/slides/slide18.xml" Id="Rcffced186cbe4995" /><Relationship Type="http://schemas.openxmlformats.org/officeDocument/2006/relationships/slide" Target="/ppt/slides/slide19.xml" Id="Ra85f2ff1e9f84ea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c1d6b4aa8f64e6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037908fe42c459d" /><Relationship Type="http://schemas.openxmlformats.org/officeDocument/2006/relationships/notesMaster" Target="/ppt/notesMasters/notesMaster1.xml" Id="Rc19da1c6dbc244e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04b336a1f5d4d25" /><Relationship Type="http://schemas.openxmlformats.org/officeDocument/2006/relationships/notesMaster" Target="/ppt/notesMasters/notesMaster1.xml" Id="R023c98df00ec4b2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23e2e5b9e564d13" /><Relationship Type="http://schemas.openxmlformats.org/officeDocument/2006/relationships/notesMaster" Target="/ppt/notesMasters/notesMaster1.xml" Id="R6a8b360a01ed412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4f32475ce85400e" /><Relationship Type="http://schemas.openxmlformats.org/officeDocument/2006/relationships/notesMaster" Target="/ppt/notesMasters/notesMaster1.xml" Id="R586bd63b8473459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956f8c4edac43b9" /><Relationship Type="http://schemas.openxmlformats.org/officeDocument/2006/relationships/notesMaster" Target="/ppt/notesMasters/notesMaster1.xml" Id="R371f1002b1fd472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18156d35f0a44d9" /><Relationship Type="http://schemas.openxmlformats.org/officeDocument/2006/relationships/notesMaster" Target="/ppt/notesMasters/notesMaster1.xml" Id="R0252f2440e6747a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5444e6edd70487b" /><Relationship Type="http://schemas.openxmlformats.org/officeDocument/2006/relationships/notesMaster" Target="/ppt/notesMasters/notesMaster1.xml" Id="R53feee401875425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bc622898abb4a5c" /><Relationship Type="http://schemas.openxmlformats.org/officeDocument/2006/relationships/notesMaster" Target="/ppt/notesMasters/notesMaster1.xml" Id="R6b1b021a7d26419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e1f0d4d96df4830" /><Relationship Type="http://schemas.openxmlformats.org/officeDocument/2006/relationships/notesMaster" Target="/ppt/notesMasters/notesMaster1.xml" Id="Rfd4e1a9c5dc74fd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92a7b7ac83a4fca" /><Relationship Type="http://schemas.openxmlformats.org/officeDocument/2006/relationships/notesMaster" Target="/ppt/notesMasters/notesMaster1.xml" Id="R0f6632d5dec8408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f6fad97d4e043fe" /><Relationship Type="http://schemas.openxmlformats.org/officeDocument/2006/relationships/notesMaster" Target="/ppt/notesMasters/notesMaster1.xml" Id="Ra28019cdaa7e4cf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4610016927547eb" /><Relationship Type="http://schemas.openxmlformats.org/officeDocument/2006/relationships/notesMaster" Target="/ppt/notesMasters/notesMaster1.xml" Id="Ra2404a131dee4ef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96f95c9e97b42ba" /><Relationship Type="http://schemas.openxmlformats.org/officeDocument/2006/relationships/notesMaster" Target="/ppt/notesMasters/notesMaster1.xml" Id="Rf4294d70d0c44d1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29da07bf52244a7" /><Relationship Type="http://schemas.openxmlformats.org/officeDocument/2006/relationships/notesMaster" Target="/ppt/notesMasters/notesMaster1.xml" Id="Rd8991c2d02e5454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2515db2031d4232" /><Relationship Type="http://schemas.openxmlformats.org/officeDocument/2006/relationships/notesMaster" Target="/ppt/notesMasters/notesMaster1.xml" Id="R22d5a904e8bd4ec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fc0e987f31442aa" /><Relationship Type="http://schemas.openxmlformats.org/officeDocument/2006/relationships/notesMaster" Target="/ppt/notesMasters/notesMaster1.xml" Id="R6a83abbb9fdc424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7d1a76f038c4929" /><Relationship Type="http://schemas.openxmlformats.org/officeDocument/2006/relationships/notesMaster" Target="/ppt/notesMasters/notesMaster1.xml" Id="Rc8b0982d0745477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90e9b559a3148f7" /><Relationship Type="http://schemas.openxmlformats.org/officeDocument/2006/relationships/notesMaster" Target="/ppt/notesMasters/notesMaster1.xml" Id="Rf831bf6e2874419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1928f5fd42d431b" /><Relationship Type="http://schemas.openxmlformats.org/officeDocument/2006/relationships/notesMaster" Target="/ppt/notesMasters/notesMaster1.xml" Id="Rf1d3d5eee07e4fe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แหล่งข้อมูล: F:/ESM_doc/SmartCity/Smart Tambon/คู่มือการใช้งาน no pic.docx</a:t>
            </a:r>
          </a:p>
          <a:p xmlns:a="http://schemas.openxmlformats.org/drawingml/2006/main">
            <a:r>
              <a:t>ตรวจสอบความสามารถจากโปรเจกต์: F:/ESM_work/smart-tambon</a:t>
            </a:r>
          </a:p>
          <a:p xmlns:a="http://schemas.openxmlformats.org/drawingml/2006/main">
            <a:r>
              <a:t>หน้าปกชุดรายละเอียดหน้าจอและฟีเจอร์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แหล่งข้อมูล: F:/ESM_doc/SmartCity/Smart Tambon/คู่มือการใช้งาน no pic.docx</a:t>
            </a:r>
          </a:p>
          <a:p xmlns:a="http://schemas.openxmlformats.org/drawingml/2006/main">
            <a:r>
              <a:t>ตรวจสอบความสามารถจากโปรเจกต์: F:/ESM_work/smart-tambon</a:t>
            </a:r>
          </a:p>
          <a:p xmlns:a="http://schemas.openxmlformats.org/drawingml/2006/main">
            <a:r>
              <a:t>สรุปจากหัวข้อหลักในคู่มือและเมนูจริงใน app/views/dashboard/_sidebar.html.erb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แหล่งข้อมูล: F:/ESM_doc/SmartCity/Smart Tambon/คู่มือการใช้งาน no pic.docx</a:t>
            </a:r>
          </a:p>
          <a:p xmlns:a="http://schemas.openxmlformats.org/drawingml/2006/main">
            <a:r>
              <a:t>ตรวจสอบความสามารถจากโปรเจกต์: F:/ESM_work/smart-tambon</a:t>
            </a:r>
          </a:p>
          <a:p xmlns:a="http://schemas.openxmlformats.org/drawingml/2006/main">
            <a:r>
              <a:t>อ้างอิงหัวข้อการเข้าสู่ระบบ ภาพจาก F:/ESM_doc/SmartCity/Smart Tambon/Screenshot/Log in.JPG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แหล่งข้อมูล: F:/ESM_doc/SmartCity/Smart Tambon/คู่มือการใช้งาน no pic.docx</a:t>
            </a:r>
          </a:p>
          <a:p xmlns:a="http://schemas.openxmlformats.org/drawingml/2006/main">
            <a:r>
              <a:t>ตรวจสอบความสามารถจากโปรเจกต์: F:/ESM_work/smart-tambon</a:t>
            </a:r>
          </a:p>
          <a:p xmlns:a="http://schemas.openxmlformats.org/drawingml/2006/main">
            <a:r>
              <a:t>อ้างอิงหัวข้อหน้าภาพรวมเมือง และตรวจสอบ dashboard controller/view</a:t>
            </a:r>
          </a:p>
          <a:p xmlns:a="http://schemas.openxmlformats.org/drawingml/2006/main">
            <a:br/>
            <a:r>
              <a:t>ภาพหน้าจอ: F:\ESM_doc\SmartCity\Smart Tambon\Screenshot\1_ภาพรวมเมือง\1_ภาพรวม.JPG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แหล่งข้อมูล: F:/ESM_doc/SmartCity/Smart Tambon/คู่มือการใช้งาน no pic.docx</a:t>
            </a:r>
          </a:p>
          <a:p xmlns:a="http://schemas.openxmlformats.org/drawingml/2006/main">
            <a:r>
              <a:t>ตรวจสอบความสามารถจากโปรเจกต์: F:/ESM_work/smart-tambon</a:t>
            </a:r>
          </a:p>
          <a:p xmlns:a="http://schemas.openxmlformats.org/drawingml/2006/main">
            <a:r>
              <a:t>อ้างอิงหน้าแผนที่เมือง และ API layers/water/fire/cctv/activities/projects</a:t>
            </a:r>
          </a:p>
          <a:p xmlns:a="http://schemas.openxmlformats.org/drawingml/2006/main">
            <a:br/>
            <a:r>
              <a:t>ภาพหน้าจอ: F:\ESM_doc\SmartCity\Smart Tambon\Screenshot\2_แผนที่เมือง\1_แผนที่เมือง.JPG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แหล่งข้อมูล: F:/ESM_doc/SmartCity/Smart Tambon/คู่มือการใช้งาน no pic.docx</a:t>
            </a:r>
          </a:p>
          <a:p xmlns:a="http://schemas.openxmlformats.org/drawingml/2006/main">
            <a:r>
              <a:t>ตรวจสอบความสามารถจากโปรเจกต์: F:/ESM_work/smart-tambon</a:t>
            </a:r>
          </a:p>
          <a:p xmlns:a="http://schemas.openxmlformats.org/drawingml/2006/main">
            <a:r>
              <a:t>อ้างอิงหน้าเหตุการณ์ทั่วไป และ routes incidents/progress/acknowledge/promote</a:t>
            </a:r>
          </a:p>
          <a:p xmlns:a="http://schemas.openxmlformats.org/drawingml/2006/main">
            <a:br/>
            <a:r>
              <a:t>ภาพหน้าจอ: F:\ESM_doc\SmartCity\Smart Tambon\Screenshot\3_เหตุการณ์ทั่วไป\1_เหตุการทั่วไป-รอรับเรื่อง.JPG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แหล่งข้อมูล: F:/ESM_doc/SmartCity/Smart Tambon/คู่มือการใช้งาน no pic.docx</a:t>
            </a:r>
          </a:p>
          <a:p xmlns:a="http://schemas.openxmlformats.org/drawingml/2006/main">
            <a:r>
              <a:t>ตรวจสอบความสามารถจากโปรเจกต์: F:/ESM_work/smart-tambon</a:t>
            </a:r>
          </a:p>
          <a:p xmlns:a="http://schemas.openxmlformats.org/drawingml/2006/main">
            <a:r>
              <a:t>อ้างอิงหน้าภัยพิบัติ หน้าประเมินสถานการณ์ และ analysis records API</a:t>
            </a:r>
          </a:p>
          <a:p xmlns:a="http://schemas.openxmlformats.org/drawingml/2006/main">
            <a:br/>
            <a:r>
              <a:t>ภาพหน้าจอ: F:\ESM_doc\SmartCity\Smart Tambon\Screenshot\4_ภัยพิบัติ\3_ประเมินสถานการณ์.JPG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แหล่งข้อมูล: F:/ESM_doc/SmartCity/Smart Tambon/คู่มือการใช้งาน no pic.docx</a:t>
            </a:r>
          </a:p>
          <a:p xmlns:a="http://schemas.openxmlformats.org/drawingml/2006/main">
            <a:r>
              <a:t>ตรวจสอบความสามารถจากโปรเจกต์: F:/ESM_work/smart-tambon</a:t>
            </a:r>
          </a:p>
          <a:p xmlns:a="http://schemas.openxmlformats.org/drawingml/2006/main">
            <a:r>
              <a:t>อ้างอิงหัวข้อแผนรับมือและหน้ากฎการประเมินทรัพยากร</a:t>
            </a:r>
          </a:p>
          <a:p xmlns:a="http://schemas.openxmlformats.org/drawingml/2006/main">
            <a:br/>
            <a:r>
              <a:t>ภาพหน้าจอ: F:\ESM_doc\SmartCity\Smart Tambon\Screenshot\5_กฎ\1_กฎการประเมินทรัพยากร.JPG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แหล่งข้อมูล: F:/ESM_doc/SmartCity/Smart Tambon/คู่มือการใช้งาน no pic.docx</a:t>
            </a:r>
          </a:p>
          <a:p xmlns:a="http://schemas.openxmlformats.org/drawingml/2006/main">
            <a:r>
              <a:t>ตรวจสอบความสามารถจากโปรเจกต์: F:/ESM_work/smart-tambon</a:t>
            </a:r>
          </a:p>
          <a:p xmlns:a="http://schemas.openxmlformats.org/drawingml/2006/main">
            <a:r>
              <a:t>อ้างอิงหน้ากิจกรรมในพื้นที่ และ activities controller/API/layer</a:t>
            </a:r>
          </a:p>
          <a:p xmlns:a="http://schemas.openxmlformats.org/drawingml/2006/main">
            <a:br/>
            <a:r>
              <a:t>ภาพหน้าจอ: F:\ESM_doc\SmartCity\Smart Tambon\Screenshot\6_กิจกรรม\1_กิจกรรมในพื้นที่.JPG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แหล่งข้อมูล: F:/ESM_doc/SmartCity/Smart Tambon/คู่มือการใช้งาน no pic.docx</a:t>
            </a:r>
          </a:p>
          <a:p xmlns:a="http://schemas.openxmlformats.org/drawingml/2006/main">
            <a:r>
              <a:t>ตรวจสอบความสามารถจากโปรเจกต์: F:/ESM_work/smart-tambon</a:t>
            </a:r>
          </a:p>
          <a:p xmlns:a="http://schemas.openxmlformats.org/drawingml/2006/main">
            <a:r>
              <a:t>อ้างอิงหน้าข่าวประชาสัมพันธ์ และ broadcast programs/broadcasts/TTS routes</a:t>
            </a:r>
          </a:p>
          <a:p xmlns:a="http://schemas.openxmlformats.org/drawingml/2006/main">
            <a:br/>
            <a:r>
              <a:t>ภาพหน้าจอ: F:\ESM_doc\SmartCity\Smart Tambon\Screenshot\7_ข่าว\1_ข่าวประชาสัมพันธ์.JPG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แหล่งข้อมูล: F:/ESM_doc/SmartCity/Smart Tambon/คู่มือการใช้งาน no pic.docx</a:t>
            </a:r>
          </a:p>
          <a:p xmlns:a="http://schemas.openxmlformats.org/drawingml/2006/main">
            <a:r>
              <a:t>ตรวจสอบความสามารถจากโปรเจกต์: F:/ESM_work/smart-tambon</a:t>
            </a:r>
          </a:p>
          <a:p xmlns:a="http://schemas.openxmlformats.org/drawingml/2006/main">
            <a:r>
              <a:t>อ้างอิงหน้ากล้องวงจรปิด หน้าเว็บผู้ให้บริการแบบ Embed และ cctv_player.js</a:t>
            </a:r>
          </a:p>
          <a:p xmlns:a="http://schemas.openxmlformats.org/drawingml/2006/main">
            <a:br/>
            <a:r>
              <a:t>ภาพหน้าจอ: F:\ESM_doc\SmartCity\Smart Tambon\Screenshot\8_กล้องวงจรปิด\1_กล้องวงจรปิด.JPG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แหล่งข้อมูล: F:/ESM_doc/SmartCity/Smart Tambon/คู่มือการใช้งาน no pic.docx</a:t>
            </a:r>
          </a:p>
          <a:p xmlns:a="http://schemas.openxmlformats.org/drawingml/2006/main">
            <a:r>
              <a:t>ตรวจสอบความสามารถจากโปรเจกต์: F:/ESM_work/smart-tambon</a:t>
            </a:r>
          </a:p>
          <a:p xmlns:a="http://schemas.openxmlformats.org/drawingml/2006/main">
            <a:r>
              <a:t>อ้างอิงหน้าโครงการ และ projects controller/API/model</a:t>
            </a:r>
          </a:p>
          <a:p xmlns:a="http://schemas.openxmlformats.org/drawingml/2006/main">
            <a:br/>
            <a:r>
              <a:t>ภาพหน้าจอ: F:\ESM_doc\SmartCity\Smart Tambon\Screenshot\9_โครงการ\1_โครงการ.JPG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แหล่งข้อมูล: F:/ESM_doc/SmartCity/Smart Tambon/คู่มือการใช้งาน no pic.docx</a:t>
            </a:r>
          </a:p>
          <a:p xmlns:a="http://schemas.openxmlformats.org/drawingml/2006/main">
            <a:r>
              <a:t>ตรวจสอบความสามารถจากโปรเจกต์: F:/ESM_work/smart-tambon</a:t>
            </a:r>
          </a:p>
          <a:p xmlns:a="http://schemas.openxmlformats.org/drawingml/2006/main">
            <a:r>
              <a:t>อ้างอิงหน้านำเข้าข้อมูล และ dataset import drafts/versions/services</a:t>
            </a:r>
          </a:p>
          <a:p xmlns:a="http://schemas.openxmlformats.org/drawingml/2006/main">
            <a:br/>
            <a:r>
              <a:t>ภาพหน้าจอ: F:\ESM_doc\SmartCity\Smart Tambon\Screenshot\10_นำเข้าข้อมูล\1_นำเข้าข้อมูล.JPG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แหล่งข้อมูล: F:/ESM_doc/SmartCity/Smart Tambon/คู่มือการใช้งาน no pic.docx</a:t>
            </a:r>
          </a:p>
          <a:p xmlns:a="http://schemas.openxmlformats.org/drawingml/2006/main">
            <a:r>
              <a:t>ตรวจสอบความสามารถจากโปรเจกต์: F:/ESM_work/smart-tambon</a:t>
            </a:r>
          </a:p>
          <a:p xmlns:a="http://schemas.openxmlformats.org/drawingml/2006/main">
            <a:r>
              <a:t>อ้างอิงหน้าผู้ช่วย AI และ ai sessions/messages/snippets/query engine</a:t>
            </a:r>
          </a:p>
          <a:p xmlns:a="http://schemas.openxmlformats.org/drawingml/2006/main">
            <a:br/>
            <a:r>
              <a:t>ภาพหน้าจอ: F:\ESM_doc\SmartCity\Smart Tambon\Screenshot\11_ผู้ช่วย AI\1_ผู้ช่วย AI.JPG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แหล่งข้อมูล: F:/ESM_doc/SmartCity/Smart Tambon/คู่มือการใช้งาน no pic.docx</a:t>
            </a:r>
          </a:p>
          <a:p xmlns:a="http://schemas.openxmlformats.org/drawingml/2006/main">
            <a:r>
              <a:t>ตรวจสอบความสามารถจากโปรเจกต์: F:/ESM_work/smart-tambon</a:t>
            </a:r>
          </a:p>
          <a:p xmlns:a="http://schemas.openxmlformats.org/drawingml/2006/main">
            <a:r>
              <a:t>อ้างอิงหน้าจัดการผู้ใช้ และ user model/registrations/admin routes</a:t>
            </a:r>
          </a:p>
          <a:p xmlns:a="http://schemas.openxmlformats.org/drawingml/2006/main">
            <a:br/>
            <a:r>
              <a:t>ภาพหน้าจอ: F:\ESM_doc\SmartCity\Smart Tambon\Screenshot\13_จัดการผู้ใช้\1_จัดการผู้ใช้.JPG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แหล่งข้อมูล: F:/ESM_doc/SmartCity/Smart Tambon/คู่มือการใช้งาน no pic.docx</a:t>
            </a:r>
          </a:p>
          <a:p xmlns:a="http://schemas.openxmlformats.org/drawingml/2006/main">
            <a:r>
              <a:t>ตรวจสอบความสามารถจากโปรเจกต์: F:/ESM_work/smart-tambon</a:t>
            </a:r>
          </a:p>
          <a:p xmlns:a="http://schemas.openxmlformats.org/drawingml/2006/main">
            <a:r>
              <a:t>อ้างอิงหน้าตั้งค่าระบบ ช่องทางแจ้งเตือน เทมเพลต การทดสอบ และ system/organization settings</a:t>
            </a:r>
          </a:p>
          <a:p xmlns:a="http://schemas.openxmlformats.org/drawingml/2006/main">
            <a:br/>
            <a:r>
              <a:t>ภาพหน้าจอ: F:\ESM_doc\SmartCity\Smart Tambon\Screenshot\12_ตั้งค่าระบบ\3_ช่องทางแจ้งเตือน.JPG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แหล่งข้อมูล: F:/ESM_doc/SmartCity/Smart Tambon/คู่มือการใช้งาน no pic.docx</a:t>
            </a:r>
          </a:p>
          <a:p xmlns:a="http://schemas.openxmlformats.org/drawingml/2006/main">
            <a:r>
              <a:t>ตรวจสอบความสามารถจากโปรเจกต์: F:/ESM_work/smart-tambon</a:t>
            </a:r>
          </a:p>
          <a:p xmlns:a="http://schemas.openxmlformats.org/drawingml/2006/main">
            <a:r>
              <a:t>ตรวจสอบจาก public incident reports, organization settings, SMS และ incident tracking routes/views</a:t>
            </a:r>
          </a:p>
          <a:p xmlns:a="http://schemas.openxmlformats.org/drawingml/2006/main">
            <a:br/>
            <a:r>
              <a:t>ภาพหน้าจอ: F:\ESM_doc\SmartCity\Smart Tambon\Screenshot\3_เหตุการณ์ทั่วไป\11_แบบฟอร์มประชาชนกรอก.JPG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แหล่งข้อมูล: F:/ESM_doc/SmartCity/Smart Tambon/คู่มือการใช้งาน no pic.docx</a:t>
            </a:r>
          </a:p>
          <a:p xmlns:a="http://schemas.openxmlformats.org/drawingml/2006/main">
            <a:r>
              <a:t>ตรวจสอบความสามารถจากโปรเจกต์: F:/ESM_work/smart-tambon</a:t>
            </a:r>
          </a:p>
          <a:p xmlns:a="http://schemas.openxmlformats.org/drawingml/2006/main">
            <a:r>
              <a:t>สรุป workflow ร่วมจากหน้าจอทั้งหมดและความเชื่อมโยงใน routes/services</a:t>
            </a:r>
          </a:p>
          <a:p xmlns:a="http://schemas.openxmlformats.org/drawingml/2006/main">
            <a:br/>
            <a:r>
              <a:t>ภาพหน้าจอ: F:\ESM_doc\SmartCity\Smart Tambon\Screenshot\1_ภาพรวมเมือง\2_ภาพรวม(ต่อ).JPG</a:t>
            </a:r>
          </a:p>
          <a:p xmlns:a="http://schemas.openxmlformats.org/drawingml/2006/main">
            <a:br/>
            <a:r>
              <a:t>ภาพหน้าจอ: F:\ESM_doc\SmartCity\Smart Tambon\Screenshot\4_ภัยพิบัติ\2_ภัยพิบัติ.JPG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แหล่งข้อมูล: F:/ESM_doc/SmartCity/Smart Tambon/คู่มือการใช้งาน no pic.docx</a:t>
            </a:r>
          </a:p>
          <a:p xmlns:a="http://schemas.openxmlformats.org/drawingml/2006/main">
            <a:r>
              <a:t>ตรวจสอบความสามารถจากโปรเจกต์: F:/ESM_work/smart-tambon</a:t>
            </a:r>
          </a:p>
          <a:p xmlns:a="http://schemas.openxmlformats.org/drawingml/2006/main">
            <a:r>
              <a:t>อ้างอิงหัวข้อการออกจากระบบและข้อควรระวังในหน้าตั้งค่าระบบ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1c2522f8684cf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05191f41e1445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d1a88388b647d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6d7fe93d6b41e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cee484bec54e8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1bf9d705f349a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891D79A-F821-4AA2-BBB9-4FFE6E67D4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34B1EEA-74DD-44FA-A9F9-E74F980BB4D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C54C54E-D34F-4918-836F-3471E06FF53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559A3F7-F3F5-4216-93E9-CF0A42B89CF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44ACE80-0AB7-4A3F-8AE2-A2F1861739A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745A794-39FA-425D-94C7-67B9F184C77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D7DB551-2A35-4F92-A833-843AD58528D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A70299C-80D9-4598-8AE2-AB007049C2F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0B21A30-D6C5-4D06-A866-C79F0384E6D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2CF57A7-4A16-4080-AFDB-2C8E6EF2D9D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b19f63ec56244e5" /><Relationship Type="http://schemas.openxmlformats.org/officeDocument/2006/relationships/slideLayout" Target="/ppt/slideLayouts/slideLayout1.xml" Id="Rdbf6bdb901f54426" /><Relationship Type="http://schemas.openxmlformats.org/officeDocument/2006/relationships/slideLayout" Target="/ppt/slideLayouts/slideLayout2.xml" Id="R67be83998c9e4bfd" /><Relationship Type="http://schemas.openxmlformats.org/officeDocument/2006/relationships/slideLayout" Target="/ppt/slideLayouts/slideLayout3.xml" Id="R6def627ba01f49db" /><Relationship Type="http://schemas.openxmlformats.org/officeDocument/2006/relationships/slideLayout" Target="/ppt/slideLayouts/slideLayout4.xml" Id="R2ecb6190817347c7" /><Relationship Type="http://schemas.openxmlformats.org/officeDocument/2006/relationships/slideLayout" Target="/ppt/slideLayouts/slideLayout5.xml" Id="R638c6836a5934f2f" /><Relationship Type="http://schemas.openxmlformats.org/officeDocument/2006/relationships/slideLayout" Target="/ppt/slideLayouts/slideLayout6.xml" Id="R173dcb5a792b4da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bf6bdb901f54426"/>
    <p:sldLayoutId xmlns:r="http://schemas.openxmlformats.org/officeDocument/2006/relationships" id="2147483650" r:id="R67be83998c9e4bfd"/>
    <p:sldLayoutId xmlns:r="http://schemas.openxmlformats.org/officeDocument/2006/relationships" id="2147483651" r:id="R6def627ba01f49db"/>
    <p:sldLayoutId xmlns:r="http://schemas.openxmlformats.org/officeDocument/2006/relationships" id="2147483652" r:id="R2ecb6190817347c7"/>
    <p:sldLayoutId xmlns:r="http://schemas.openxmlformats.org/officeDocument/2006/relationships" id="2147483653" r:id="R638c6836a5934f2f"/>
    <p:sldLayoutId xmlns:r="http://schemas.openxmlformats.org/officeDocument/2006/relationships" id="2147483654" r:id="R173dcb5a792b4da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accacfef49e4e56" /><Relationship Type="http://schemas.openxmlformats.org/officeDocument/2006/relationships/image" Target="/ppt/media/image.png" Id="Rf9aa86343c4045ea" /><Relationship Type="http://schemas.openxmlformats.org/officeDocument/2006/relationships/notesSlide" Target="/ppt/notesSlides/notesSlide1.xml" Id="R8f8c7746eaeb473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cf13a6ca67d4468" /><Relationship Type="http://schemas.openxmlformats.org/officeDocument/2006/relationships/notesSlide" Target="/ppt/notesSlides/notesSlide2.xml" Id="R3e2d0b1ad0384dd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5a38aa2e3664f2f" /><Relationship Type="http://schemas.openxmlformats.org/officeDocument/2006/relationships/image" Target="/ppt/media/image.jpeg" Id="R5dddfecbad714cfe" /><Relationship Type="http://schemas.openxmlformats.org/officeDocument/2006/relationships/notesSlide" Target="/ppt/notesSlides/notesSlide3.xml" Id="Rc1289c1eae0943a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37ac2b3909147e0" /><Relationship Type="http://schemas.openxmlformats.org/officeDocument/2006/relationships/image" Target="/ppt/media/image2.jpeg" Id="Ra889eb8789dc4fa5" /><Relationship Type="http://schemas.openxmlformats.org/officeDocument/2006/relationships/notesSlide" Target="/ppt/notesSlides/notesSlide4.xml" Id="R9cace582198d47d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ab59db0467c4c94" /><Relationship Type="http://schemas.openxmlformats.org/officeDocument/2006/relationships/image" Target="/ppt/media/image3.jpeg" Id="Radb7ad024f0a428b" /><Relationship Type="http://schemas.openxmlformats.org/officeDocument/2006/relationships/notesSlide" Target="/ppt/notesSlides/notesSlide5.xml" Id="R2fc44b0a089f4d5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d6360df2a584910" /><Relationship Type="http://schemas.openxmlformats.org/officeDocument/2006/relationships/image" Target="/ppt/media/image4.jpeg" Id="R65241dd62bae4ed8" /><Relationship Type="http://schemas.openxmlformats.org/officeDocument/2006/relationships/notesSlide" Target="/ppt/notesSlides/notesSlide6.xml" Id="Rddbe01123172434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a13322d249f4d1d" /><Relationship Type="http://schemas.openxmlformats.org/officeDocument/2006/relationships/image" Target="/ppt/media/image5.jpeg" Id="Re7147f1ddc084f15" /><Relationship Type="http://schemas.openxmlformats.org/officeDocument/2006/relationships/notesSlide" Target="/ppt/notesSlides/notesSlide7.xml" Id="R395ababf5ac9478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947825d0e5a4e69" /><Relationship Type="http://schemas.openxmlformats.org/officeDocument/2006/relationships/image" Target="/ppt/media/image6.jpeg" Id="R2bf078c3bdef4036" /><Relationship Type="http://schemas.openxmlformats.org/officeDocument/2006/relationships/notesSlide" Target="/ppt/notesSlides/notesSlide8.xml" Id="R1ffa89c7f741400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e7bfd72bda14b9d" /><Relationship Type="http://schemas.openxmlformats.org/officeDocument/2006/relationships/image" Target="/ppt/media/image7.jpeg" Id="R32b8807d40624244" /><Relationship Type="http://schemas.openxmlformats.org/officeDocument/2006/relationships/notesSlide" Target="/ppt/notesSlides/notesSlide9.xml" Id="Rb7708c54861446a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183b68c13c94add" /><Relationship Type="http://schemas.openxmlformats.org/officeDocument/2006/relationships/image" Target="/ppt/media/image8.jpeg" Id="Rf85feeeaee8c4f74" /><Relationship Type="http://schemas.openxmlformats.org/officeDocument/2006/relationships/notesSlide" Target="/ppt/notesSlides/notesSlide10.xml" Id="R8092c1e370784e7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af5102a6912468b" /><Relationship Type="http://schemas.openxmlformats.org/officeDocument/2006/relationships/image" Target="/ppt/media/image9.jpeg" Id="R3b687c8b98964ed5" /><Relationship Type="http://schemas.openxmlformats.org/officeDocument/2006/relationships/notesSlide" Target="/ppt/notesSlides/notesSlide11.xml" Id="R9752e3da88084d3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47f092783474851" /><Relationship Type="http://schemas.openxmlformats.org/officeDocument/2006/relationships/image" Target="/ppt/media/image10.jpeg" Id="R75ac358a03e64ee7" /><Relationship Type="http://schemas.openxmlformats.org/officeDocument/2006/relationships/notesSlide" Target="/ppt/notesSlides/notesSlide12.xml" Id="R3bee9a55f5b6478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29900581f094747" /><Relationship Type="http://schemas.openxmlformats.org/officeDocument/2006/relationships/image" Target="/ppt/media/image11.jpeg" Id="R7d18438eda6943ce" /><Relationship Type="http://schemas.openxmlformats.org/officeDocument/2006/relationships/notesSlide" Target="/ppt/notesSlides/notesSlide13.xml" Id="R38c90b4a1530490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6277dddfa8e45db" /><Relationship Type="http://schemas.openxmlformats.org/officeDocument/2006/relationships/image" Target="/ppt/media/image12.jpeg" Id="R707bdce1a74146d1" /><Relationship Type="http://schemas.openxmlformats.org/officeDocument/2006/relationships/notesSlide" Target="/ppt/notesSlides/notesSlide14.xml" Id="Ra15190152bba48e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0e337a5644b4b2d" /><Relationship Type="http://schemas.openxmlformats.org/officeDocument/2006/relationships/image" Target="/ppt/media/image13.jpeg" Id="R89e88fae7e834b10" /><Relationship Type="http://schemas.openxmlformats.org/officeDocument/2006/relationships/notesSlide" Target="/ppt/notesSlides/notesSlide15.xml" Id="Re75648972e594ab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feea2c542b045aa" /><Relationship Type="http://schemas.openxmlformats.org/officeDocument/2006/relationships/image" Target="/ppt/media/image14.jpeg" Id="R6af77a88f160457e" /><Relationship Type="http://schemas.openxmlformats.org/officeDocument/2006/relationships/notesSlide" Target="/ppt/notesSlides/notesSlide16.xml" Id="R8d0453a3020345f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baf121857434a82" /><Relationship Type="http://schemas.openxmlformats.org/officeDocument/2006/relationships/image" Target="/ppt/media/image15.jpeg" Id="Re27cb505a76a45e1" /><Relationship Type="http://schemas.openxmlformats.org/officeDocument/2006/relationships/notesSlide" Target="/ppt/notesSlides/notesSlide17.xml" Id="Rcb3ede9d56b0408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db6348ca11d40a6" /><Relationship Type="http://schemas.openxmlformats.org/officeDocument/2006/relationships/image" Target="/ppt/media/image16.jpeg" Id="Re230fa51d8704f98" /><Relationship Type="http://schemas.openxmlformats.org/officeDocument/2006/relationships/image" Target="/ppt/media/image17.jpeg" Id="R526f317fcf0f418d" /><Relationship Type="http://schemas.openxmlformats.org/officeDocument/2006/relationships/notesSlide" Target="/ppt/notesSlides/notesSlide18.xml" Id="R6519aa1fc7fc4410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6872e73a1c3411b" /><Relationship Type="http://schemas.openxmlformats.org/officeDocument/2006/relationships/notesSlide" Target="/ppt/notesSlides/notesSlide19.xml" Id="R39ddcc47b505499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E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9CC9ED-E660-475E-843F-5683D8E79B5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aa86343c4045ea"/>
          <a:stretch xmlns:a="http://schemas.openxmlformats.org/drawingml/2006/main"/>
        </p:blipFill>
        <p:spPr>
          <a:xfrm xmlns:a="http://schemas.openxmlformats.org/drawingml/2006/main">
            <a:off x="1478669" y="514350"/>
            <a:ext cx="1271762" cy="7810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7E3717-FBB9-43F8-86CE-B72C9F8C9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695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36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36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36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36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36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36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36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36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36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36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36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36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หน้าจอและฟีเจอร์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FD7648-1BFB-486C-8A7A-5F5ADEB36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7180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950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950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950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950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950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950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950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950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950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950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pPr>
            <a:r>
              <a:rPr sz="1950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rPr>
              <a:t>SMART TAMBON SAFETY THAILAND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83EA9A-4814-4696-89E3-8A926994E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102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>
            <a:defPPr algn="l">
              <a:defRPr sz="13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3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3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3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3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3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3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3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3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3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คู่มือการใช้งานฉบับนำเสนอ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807A79-3F0B-40ED-BC8A-81ABB3191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381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C3A1A1-A5F0-4695-AA86-7CE74B191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047875"/>
            <a:ext cx="2571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54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54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54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54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54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54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54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54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54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54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54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54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19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A5206E-4E47-477C-9C11-504F262A0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14325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875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875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875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875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875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875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875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875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875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875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875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สไลด์</a:t>
            </a:r>
          </a:p>
          <a:p xmlns:a="http://schemas.openxmlformats.org/drawingml/2006/main">
            <a:pPr algn="ctr">
              <a:buNone/>
              <a:defRPr sz="1875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ครอบคลุมหน้าหลักและ workflow สำคัญ</a:t>
            </a:r>
          </a:p>
        </p:txBody>
      </p:sp>
    </p:spTree>
    <p:extLst>
      <p:ext uri="{BB962C8B-B14F-4D97-AF65-F5344CB8AC3E}">
        <p14:creationId xmlns:p14="http://schemas.microsoft.com/office/powerpoint/2010/main" val="66625814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BFFB913-9E70-4548-A056-868463331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>
            <a:def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โครงสร้างการใช้งาน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030A58-FD94-457C-B442-8A99C5AC4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แผนผังหน้าหลักของระบบ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A8CDF9-B782-45CF-9963-BE2835E9A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376AF7-F3A8-4180-B4D4-7B2F9ECC1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SMART TAMBON | หน้าจอและฟีเจอร์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439E6D-46D6-4C29-838A-92814B5F2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960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A5FC1C-A510-468C-A510-C3FB2F815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F1E69F-3BB2-4105-87F1-032E7CE42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571625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ภาพรวมเมือง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67DDBD-3507-419A-8C2C-842C7FA4D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238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A47611-BFC3-4395-B9DA-4CAD17A33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571625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B91BC4-2F34-4731-A384-15C608640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1571625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แผนที่เมือง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8D555F-E3FB-483F-8B02-3799B52F1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095500"/>
            <a:ext cx="238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D46061-AF08-44A3-8F3D-5FCD9A671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571625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8FB60F-8B08-4292-B294-AFF920678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571625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เหตุการณ์ทั่วไป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C23F8F-2998-49FB-B6E0-163D67E6C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095500"/>
            <a:ext cx="238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CA3F0B-16A0-467E-962F-099EC34D6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571625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36A563-742B-4690-B423-C60200BDA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571625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ภัยพิบัติ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47CF36-7263-411B-B346-84CFAF53E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095500"/>
            <a:ext cx="238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29AFE4-ACCA-4698-B39A-A07344F97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05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D838EC-B07A-43F1-9961-4685DE2CC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8765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กิจกรรม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A3E846-27A4-43F7-A65A-C88FFFAB2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0425"/>
            <a:ext cx="238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540588-77B1-4FA5-B548-407DF7D55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876550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06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4F03D9-4BDF-4C57-A0CD-47C57BDA5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8765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ข่าวประชาสัมพันธ์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B0C3A8-CFD3-47DA-8D4A-C35948AB2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400425"/>
            <a:ext cx="238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F64EF9F-1F8D-407B-AD41-AD464394A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876550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07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C2D9E7A-CBE2-4878-AAF3-85F9CD927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8765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กล้องวงจรปิด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B1B7E4C-DB63-454F-B68B-5B6E4CEC6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400425"/>
            <a:ext cx="238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D48F332-4887-40A5-95CE-79EA3FABE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876550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08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892B8A3-8CFD-4AA1-B57E-73ECB178E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8765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โครงการ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EE3E6AA-01E5-4E82-9C51-E66B0C155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400425"/>
            <a:ext cx="238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4078DA6-74EE-4958-BD45-B4845F35D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81475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09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A04AC69-729C-4081-97C3-C883DC930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181475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นำเข้าข้อมูล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0CA43E2-4A8E-44A0-BDB2-CB3503A5B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05350"/>
            <a:ext cx="238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4A2E087-8E82-4C8D-A193-A71C2A54A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181475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10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047837A-3E67-4492-98FD-0CB131D76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4181475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ผู้ช่วย AI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D5DB311-9CD3-417C-AF11-9FFBCF47F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705350"/>
            <a:ext cx="238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E1B15C2-DA41-48D5-B1EA-DCCE4F052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181475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11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B8334AE-5261-48A8-8E31-38035340E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181475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จัดการผู้ใช้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C215D42-2ED8-4F34-9366-B8AE8B573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705350"/>
            <a:ext cx="238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C28C1DC-7EAA-4EB5-9AEF-FFB771205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181475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12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24A519E-43EC-48CF-B7FE-55BE66534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181475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ตั้งค่าระบบ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1CE3FAD-40CB-429C-8BB2-AD019DC8B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705350"/>
            <a:ext cx="238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D96DCC8-1A0F-446E-9AD6-A6A5879E9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61975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r">
              <a:defRPr sz="1425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r">
              <a:buNone/>
              <a:defRPr sz="1425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r">
              <a:buNone/>
              <a:defRPr sz="1425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r">
              <a:buNone/>
              <a:defRPr sz="1425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r">
              <a:buNone/>
              <a:defRPr sz="1425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r">
              <a:buNone/>
              <a:defRPr sz="1425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r">
              <a:buNone/>
              <a:defRPr sz="1425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r">
              <a:buNone/>
              <a:defRPr sz="1425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r">
              <a:buNone/>
              <a:defRPr sz="1425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r">
              <a:buNone/>
              <a:defRPr sz="1425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r">
              <a:buNone/>
              <a:defRPr sz="1425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เมนูที่เห็นขึ้นอยู่กับบทบาทและการตั้งค่าของหน่วยงาน</a:t>
            </a:r>
          </a:p>
        </p:txBody>
      </p:sp>
    </p:spTree>
    <p:extLst>
      <p:ext uri="{BB962C8B-B14F-4D97-AF65-F5344CB8AC3E}">
        <p14:creationId xmlns:p14="http://schemas.microsoft.com/office/powerpoint/2010/main" val="97076287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3D5F49-1641-4F54-970C-18339BF89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>
            <a:def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เริ่มต้นใช้งาน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DBB97A-0C59-4661-AE0B-6402A49ED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การเข้าสู่ระบบและการกำหนดสิทธิ์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CA9817-FC4F-404F-8140-45555DE52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E78F67-06B6-43C9-B463-96749C1E5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SMART TAMBON | หน้าจอและฟีเจอร์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A02278-5516-44B2-934A-AEAC402BB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960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03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49AE72-8C2C-452B-8FFF-70D61449797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ddfecbad714cfe"/>
          <a:stretch xmlns:a="http://schemas.openxmlformats.org/drawingml/2006/main"/>
        </p:blipFill>
        <p:spPr>
          <a:xfrm xmlns:a="http://schemas.openxmlformats.org/drawingml/2006/main">
            <a:off x="609600" y="1524893"/>
            <a:ext cx="6667500" cy="364628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FB9A66-58C0-42B9-BC59-DBD7D4980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61925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7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7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7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7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7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7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7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7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7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7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7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ขั้นตอน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0F8288-1F0C-41D8-8E8F-FCF98BE94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2193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3E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DE4997-1449-4272-87C0-D0B7835C1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2143125"/>
            <a:ext cx="3105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กรอกชื่อผู้ใช้งานและรหัสผ่าน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9CF6A2-4CCB-49C9-9F5D-108E71873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9432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3E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BFA5F1-B0CC-41FE-8517-9068239BB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2867025"/>
            <a:ext cx="3105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ระบบตรวจบทบาทและขอบเขตพื้นที่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66FA85-E2E4-4E6C-B1D4-2E1CE20BB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6671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3E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419059-C42A-482C-9709-5F396C15A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3590925"/>
            <a:ext cx="3105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เข้าสู่หน้าภาพรวมเมืองของพื้นที่ที่ได้รับอนุญาต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828A55-B57A-403D-9DD1-228CF15F9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3910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3E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DFB737-CCE3-4FC8-9FF6-3C1B90B1F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4314825"/>
            <a:ext cx="3105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การเปลี่ยนรหัสผ่านทำผ่านหน้าจัดการผู้ใช้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94CAA1-DB8B-4179-9973-FBBF1B0A9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86375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08"/>
          </a:bodyPr>
          <a:lstStyle xmlns:a="http://schemas.openxmlformats.org/drawingml/2006/main">
            <a:defPPr algn="l">
              <a:defRPr sz="9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9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9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9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9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9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9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9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9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9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9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9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ภาพจริงจากโฟลเดอร์ Screenshot</a:t>
            </a:r>
          </a:p>
        </p:txBody>
      </p:sp>
    </p:spTree>
    <p:extLst>
      <p:ext uri="{BB962C8B-B14F-4D97-AF65-F5344CB8AC3E}">
        <p14:creationId xmlns:p14="http://schemas.microsoft.com/office/powerpoint/2010/main" val="36636930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AB5122-5CCA-4D0E-8A68-197C9C35E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>
            <a:def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สถานการณ์ประจำวัน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7AE7A4-FA47-4B7A-B810-343EB259D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หน้าภาพรวมเมือง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2BF707-208E-4EBF-ADE6-4A5171DE7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E7CA3E-9E50-4D01-830A-B42379E70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SMART TAMBON | หน้าจอและฟีเจอร์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C3386C-2FD0-4182-BC86-C6A0E46BB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960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B25780-59DF-4B66-8E4B-DBC224157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ข้อมูลสำคัญที่รวมไว้ในหน้าแรก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6A6ED8-7A78-4637-9AE4-BBF1236F5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>
            <a:defPPr algn="l"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เหตุการณ์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A1E8BF-46F9-49E7-94B8-04D3ABDCD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สรุป 24 ชั่วโมง วันนี้ งานค้าง และงานที่ปิดแล้ว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254B85-9900-4F32-95DA-93AF2135A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194E57-DC9E-48AC-95C2-2DB72078B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9075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>
            <a:defPPr algn="l"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สภาพแวดล้อม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8BC838-D7E5-4AFA-960A-82E0F8EA6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647950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พยากรณ์อากาศ PM2.5 อุณหภูมิ และฝน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6ABE1B-01AA-4681-84CC-8B01F02CB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429000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B473CE-C035-484A-B57A-D05968CDC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>
            <a:defPPr algn="l"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สถานะภัย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1B4F13-E721-46F6-AC89-350CCB2D7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น้ำท่วม ไฟป่า พายุ ดินถล่ม และภัยแล้ง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36AC72-CE1F-4896-BC74-865AC59D4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ED2632-1130-42D1-ACD7-4792536C5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90525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>
            <a:defPPr algn="l"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ฐานข้อมูลพื้นที่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AFD041-7B53-44B3-9870-4C013F0F7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362450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ประชากร หมู่บ้าน ทรัพยากร และทีมปฏิบัติงาน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2446C8-6924-45CC-A11B-A18508C54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143500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A860FC-5585-43FE-9179-BA6B6CB34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762625"/>
            <a:ext cx="800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การปิด popup แจ้งเตือนไม่เปลี่ยนสถานะเหตุ ต้องเปิดเหตุและดำเนินการใน workflow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77070D-D170-4753-AF39-55ECE8107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1666875"/>
            <a:ext cx="5810250" cy="361950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7F4ED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8E162A-EFBE-4CEA-B6F6-A818C3A36F4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89eb8789dc4fa5"/>
          <a:srcRect xmlns:a="http://schemas.openxmlformats.org/drawingml/2006/main" l="1113" t="0" r="111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62625" y="1762125"/>
            <a:ext cx="5619750" cy="3143250"/>
          </a:xfrm>
          <a:prstGeom xmlns:a="http://schemas.openxmlformats.org/drawingml/2006/main" prst="roundRect">
            <a:avLst>
              <a:gd name="adj" fmla="val 2424"/>
            </a:avLst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63B463-4042-41E7-9963-8498D0074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4581525"/>
            <a:ext cx="561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E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5AD00F9-AC4D-4A7D-A081-4D620409D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4610100"/>
            <a:ext cx="5391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หน้าภาพรวมเมือง</a:t>
            </a:r>
          </a:p>
        </p:txBody>
      </p:sp>
    </p:spTree>
    <p:extLst>
      <p:ext uri="{BB962C8B-B14F-4D97-AF65-F5344CB8AC3E}">
        <p14:creationId xmlns:p14="http://schemas.microsoft.com/office/powerpoint/2010/main" val="134574232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895633-AC80-47CE-AC2A-6578EB0CA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>
            <a:def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ข้อมูลเชิงพื้นที่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7797F0-BDBA-4D1C-B9C5-7966B1AD7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หน้าแผนที่เมือง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CE68D2-6792-4E03-849E-0F5110349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5F02FA-E877-41C5-B61E-AA9DEF903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SMART TAMBON | หน้าจอและฟีเจอร์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E2FD97-696B-4CBC-AE91-CBECF1148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960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E4D0A3-A580-4B15-8A67-761907B58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สามโหมดการใช้งาน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AC118A-F650-4F33-86C8-748B38922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90750"/>
            <a:ext cx="3333750" cy="26670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E85905-F28A-45D3-A940-43FDA8160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524125"/>
            <a:ext cx="2914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แผนที่เมือง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D2811A-CB79-4714-BA73-A931DF24B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190875"/>
            <a:ext cx="2762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เลือกแผนที่ถนน ดาวเทียม หรือ 3D</a:t>
            </a:r>
          </a:p>
          <a:p xmlns:a="http://schemas.openxmlformats.org/drawingml/2006/main">
            <a:pPr algn="ctr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เปิดปิดขอบเขต สถานี กล้อง กิจกรรม จุดความร้อน และชุดข้อมูล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3E5A2B-A0B6-4812-82C2-0AAA8E346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190750"/>
            <a:ext cx="3333750" cy="26670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102E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24DDA8-8AC6-419C-80B6-F391422E1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524125"/>
            <a:ext cx="2914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วิเคราะห์พื้นที่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F99FC4-EE3F-4F7F-9F93-8EFD49248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190875"/>
            <a:ext cx="2762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425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425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425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425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425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425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425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425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425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425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425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rPr>
              <a:t>วาดหรือเลือกขอบเขต</a:t>
            </a:r>
          </a:p>
          <a:p xmlns:a="http://schemas.openxmlformats.org/drawingml/2006/main">
            <a:pPr algn="ctr">
              <a:buNone/>
              <a:defRPr sz="1425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rPr>
              <a:t>ดูประชากร สถานที่สำคัญ ทีม และทรัพยากรในพื้นที่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595B2A-CD52-485D-AE6C-30BA15305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190750"/>
            <a:ext cx="3333750" cy="26670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10B703-CF9B-406C-9B98-73195CBE0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2524125"/>
            <a:ext cx="2914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จำลองสถานการณ์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00020F-BE50-43DF-ACC4-681EEA75B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190875"/>
            <a:ext cx="2762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กำหนดประเภทภัยและพื้นที่</a:t>
            </a:r>
          </a:p>
          <a:p xmlns:a="http://schemas.openxmlformats.org/drawingml/2006/main">
            <a:pPr algn="ctr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ทดสอบผลกระทบก่อนใช้กับเหตุจริงหรือแผนรับมือ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62BCB0-A586-4E41-8EEA-E6A788E59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429250"/>
            <a:ext cx="819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500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500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500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500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500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500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500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500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500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500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500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ชั้นข้อมูลที่ปรากฏขึ้นอยู่กับข้อมูลนำเข้า บริการภายนอก และสิทธิ์ของบัญชี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612619-E5DB-462D-8C19-549833B7C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1571625"/>
            <a:ext cx="6334125" cy="3952875"/>
          </a:xfrm>
          <a:prstGeom xmlns:a="http://schemas.openxmlformats.org/drawingml/2006/main" prst="roundRect">
            <a:avLst>
              <a:gd name="adj" fmla="val 2892"/>
            </a:avLst>
          </a:prstGeom>
          <a:solidFill xmlns:a="http://schemas.openxmlformats.org/drawingml/2006/main">
            <a:srgbClr val="F7F4ED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9C39F1-EAE7-4A56-A862-207ACE76984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b7ad024f0a428b"/>
          <a:srcRect xmlns:a="http://schemas.openxmlformats.org/drawingml/2006/main" l="1680" t="0" r="168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86375" y="1666875"/>
            <a:ext cx="6143625" cy="3476625"/>
          </a:xfrm>
          <a:prstGeom xmlns:a="http://schemas.openxmlformats.org/drawingml/2006/main" prst="roundRect">
            <a:avLst>
              <a:gd name="adj" fmla="val 2192"/>
            </a:avLst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8882C2-86FA-4DEE-86F6-FBBECD2CE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819650"/>
            <a:ext cx="6143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E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5B7A9B-F67B-450A-95F2-16812B685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4848225"/>
            <a:ext cx="59150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>
            <a:defPPr algn="l">
              <a:def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แผนที่เมืองและชั้นข้อมูล</a:t>
            </a:r>
          </a:p>
        </p:txBody>
      </p:sp>
    </p:spTree>
    <p:extLst>
      <p:ext uri="{BB962C8B-B14F-4D97-AF65-F5344CB8AC3E}">
        <p14:creationId xmlns:p14="http://schemas.microsoft.com/office/powerpoint/2010/main" val="181801915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EB35157-DAAC-4312-B597-4FD2B4B82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>
            <a:def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รับแจ้งและติดตามงาน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B561D9-FD90-40A2-8B1A-96DF1A224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หน้าเหตุการณ์ทั่วไป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31A870-A60D-4F9E-941A-75C4CA8DD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E0E255-5D37-4892-A378-C48E9503A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SMART TAMBON | หน้าจอและฟีเจอร์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E3AD0D-4333-492E-A373-825FBD4D3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960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641951-3583-4529-9AB0-0FE9E59CD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80" y="211455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DE42C0-50C4-4E68-9119-B8D35A869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14500"/>
            <a:ext cx="208788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AD8E3D-1769-44AB-9E05-860146DA3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478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93CF98-BD51-4676-AF1A-185756906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28800"/>
            <a:ext cx="149733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สร้างเหตุ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25D486-D30A-4BAA-B1E7-ED6891899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71700"/>
            <a:ext cx="18211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037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ประเภท แหล่งที่มา ตำแหน่ง รายละเอียด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2A3DAD-CC83-4755-B5A0-089E1ED38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2510" y="211455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49AC2C-3C9E-4301-BEF4-24B159EC2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4630" y="1714500"/>
            <a:ext cx="208788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6CECE0-D68C-4E89-B776-9F40B7848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7980" y="18478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308156-BBD7-4A93-84DA-5AAFDDFC9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0880" y="1828800"/>
            <a:ext cx="149733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รับเรื่อง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4EE3BE-AB93-4222-9914-682E61B23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7980" y="2171700"/>
            <a:ext cx="18211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83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ตรวจสอบและกำหนดความเร่งด่วน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08C147-2FE1-4FEF-B3D0-9B75D1888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9940" y="211455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640C11-3919-4305-9D71-060ACA2F7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2060" y="1714500"/>
            <a:ext cx="208788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A82EC1-36C0-4D3F-9FEF-30DC7F136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5410" y="18478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5575FA-FDF0-4655-B82B-B325DB9D2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8310" y="1828800"/>
            <a:ext cx="149733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มอบหมาย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3822DF-3561-4BF7-94F2-FF29F70F7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5410" y="2171700"/>
            <a:ext cx="18211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ผู้รับผิดชอบ ทีม และทรัพยากร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519230-5161-4987-8826-3CDECF08A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7370" y="211455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C100AA-F288-459C-9853-5D4EA88A2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9490" y="1714500"/>
            <a:ext cx="208788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DD7C09D-2077-4252-8FA3-208583321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2840" y="18478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836084A-65B7-44F5-B168-BC56AA78D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5740" y="1828800"/>
            <a:ext cx="149733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อัปเดต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7C81736-99A3-4EE6-99D9-2435A1876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2840" y="2171700"/>
            <a:ext cx="18211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017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ความคืบหน้า ภาพ และการใช้วัสดุ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4416FF2-587C-428D-84FB-32E2162F6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20" y="1714500"/>
            <a:ext cx="208788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E82BEFD-1969-40B2-ADFB-B12ADBED6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0270" y="18478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A6B2717-07BA-4B1B-A4AF-161AA42F5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3170" y="1828800"/>
            <a:ext cx="149733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เสร็จสิ้น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74ECF9B-782D-4A78-8B9B-F4A6459FB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0270" y="2171700"/>
            <a:ext cx="18211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บันทึกผลและปิดเหตุ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2846372-869E-4063-857F-D6A39C732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33750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72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72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72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72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72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72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72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72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72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72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72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มุมมองรายการและตัวกรอง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35D7D89-E626-4537-9195-B62538033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338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3E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442641F-26B9-456B-82A4-DB9255351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857625"/>
            <a:ext cx="4533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ค้นหาด้วยเลขอ้างอิง ชื่อเหตุ หรือสถานที่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D300B81-DF98-4AB1-AC7B-470B54979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862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3E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64AB52E-BEAA-4F65-8986-AB2940002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410075"/>
            <a:ext cx="4533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กรองตามสถานะและระดับความเร่งด่วน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683D381-3C4A-4C61-872F-28E63257D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387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3E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83B5671-B256-4AD7-950C-D1E73C1E9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962525"/>
            <a:ext cx="4533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เปิดรายละเอียด ประวัติ และแผนการตอบสนอง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D014BC3-2F3F-4652-AA62-971A958E7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333750"/>
            <a:ext cx="40005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9EC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F1D238E-5447-473B-A7A5-49CF9447A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667125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ยกระดับเป็นภัยพิบัติ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25437BB-EAEE-4F9E-894B-107D3A49C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257675"/>
            <a:ext cx="314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ใช้เมื่อเหตุจำเป็นต้องประเมินพื้นที่กระทบและวางแผนทรัพยากรในระดับภัย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5828717-D120-414E-B1EA-DD92C8F1F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00375"/>
            <a:ext cx="5286375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7F4ED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pic>
        <p:nvPic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4B295E3-3BEE-4B35-9CB4-F15263B7C19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241dd62bae4ed8"/>
          <a:srcRect xmlns:a="http://schemas.openxmlformats.org/drawingml/2006/main" l="1237" t="0" r="123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0" y="3095625"/>
            <a:ext cx="5095875" cy="2857500"/>
          </a:xfrm>
          <a:prstGeom xmlns:a="http://schemas.openxmlformats.org/drawingml/2006/main" prst="roundRect">
            <a:avLst>
              <a:gd name="adj" fmla="val 2667"/>
            </a:avLst>
          </a:prstGeom>
        </p:spPr>
      </p:pic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59239CF-2DDF-4DDC-B024-B2B043444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629275"/>
            <a:ext cx="5095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E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86C74B5-2109-4E0F-A315-A86B6A331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657850"/>
            <a:ext cx="48672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รายการเหตุที่รอรับเรื่อง</a:t>
            </a:r>
          </a:p>
        </p:txBody>
      </p:sp>
    </p:spTree>
    <p:extLst>
      <p:ext uri="{BB962C8B-B14F-4D97-AF65-F5344CB8AC3E}">
        <p14:creationId xmlns:p14="http://schemas.microsoft.com/office/powerpoint/2010/main" val="173209925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3E5960-E1B9-43A5-9F06-E7756C82E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>
            <a:def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เหตุขนาดใหญ่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D6D8BA-8403-4277-8109-2B95AB846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หน้าภัยพิบัติและการประเมินสถานการณ์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282A5D-ED73-4E90-978F-B89A3864F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EEA9D0-20B4-4E20-AD6B-797FD2933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SMART TAMBON | หน้าจอและฟีเจอร์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8E331A-C5B4-4362-BDD8-847F49741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960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05F84E-4282-4800-84E9-6980EEF09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1450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>
            <a:defPPr algn="l"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พื้นที่ประเมิน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5B758A-CBDE-4FB3-9648-1A8A216D0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90750"/>
            <a:ext cx="285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เลือกจากเหตุหรือวาดขอบเขตบนแผนที่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4BDCD4-702F-420B-8B8F-2DCFB10FD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71450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>
            <a:defPPr algn="l"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ผลกระทบ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2B074A-ADD2-4189-8F65-4B263FF08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190750"/>
            <a:ext cx="285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คำนวณพื้นที่ ประชากร และสถานที่สำคัญ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BF9E40-BF39-4223-B4ED-26655C26B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71450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>
            <a:defPPr algn="l">
              <a:defRPr sz="180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80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80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80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80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80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80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80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80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80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rPr>
              <a:t>ความพร้อม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A33DDD-0219-4262-8DB1-874D79218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190750"/>
            <a:ext cx="285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เทียบทีม ทรัพยากร อุปกรณ์ และวัสดุ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CFF780-0D8B-44B3-B1C5-8E138182F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33750"/>
            <a:ext cx="100965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02E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EF9B44-C55A-4E6C-A0C4-63F218B2B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714750"/>
            <a:ext cx="8953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ผู้ใช้บันทึกผลการประเมินเป็น Analysis Record เพื่อกลับมาตรวจสอบหรือใช้เป็นฐานในการจัดทำแผนตอบสนอง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B4A1ED-9DED-484E-8A23-71224A429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286375"/>
            <a:ext cx="742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425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425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425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425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425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425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425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425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425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425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425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สถานะเหตุ ผู้รับผิดชอบ และแผนที่ยังคงเชื่อมกับรายการภัยพิบัติ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2C12BE-3318-48C8-9AB5-9140112E6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428750"/>
            <a:ext cx="7096125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3321CA-4372-40E4-A1A5-DF743DE0C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90875"/>
            <a:ext cx="1071562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107651-CC01-4AE8-A9B1-711015758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1571625"/>
            <a:ext cx="5619750" cy="3524250"/>
          </a:xfrm>
          <a:prstGeom xmlns:a="http://schemas.openxmlformats.org/drawingml/2006/main" prst="roundRect">
            <a:avLst>
              <a:gd name="adj" fmla="val 3243"/>
            </a:avLst>
          </a:prstGeom>
          <a:solidFill xmlns:a="http://schemas.openxmlformats.org/drawingml/2006/main">
            <a:srgbClr val="F7F4ED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B02487-743C-4CAB-A37B-8D43DBC7C50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147f1ddc084f15"/>
          <a:srcRect xmlns:a="http://schemas.openxmlformats.org/drawingml/2006/main" l="1294" t="0" r="129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53125" y="1666875"/>
            <a:ext cx="5429250" cy="3048000"/>
          </a:xfrm>
          <a:prstGeom xmlns:a="http://schemas.openxmlformats.org/drawingml/2006/main" prst="roundRect">
            <a:avLst>
              <a:gd name="adj" fmla="val 2500"/>
            </a:avLst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07F089-F16F-432E-B14C-9CA969CB3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391025"/>
            <a:ext cx="542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E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57B154-2131-4C31-B32B-5362D2610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4419600"/>
            <a:ext cx="5200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ประเมินสถานการณ์ภัยพิบัติ</a:t>
            </a:r>
          </a:p>
        </p:txBody>
      </p:sp>
    </p:spTree>
    <p:extLst>
      <p:ext uri="{BB962C8B-B14F-4D97-AF65-F5344CB8AC3E}">
        <p14:creationId xmlns:p14="http://schemas.microsoft.com/office/powerpoint/2010/main" val="119598351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4F190D-EA4B-4BBF-A016-F50EF61C9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>
            <a:def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การเตรียมพร้อม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18135A-697F-4F9C-B3B8-DB3374E6C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แผนรับมือและกฎการประเมินทรัพยากร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61442C-72C6-411B-BF38-104151C64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B26088-4AA0-478D-86DC-75F0CDCF7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SMART TAMBON | หน้าจอและฟีเจอร์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C06296-370E-4B9C-A158-6FAF34359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960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7AC223-70C7-4AF8-9786-70443FE1E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แผนรับมือ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5418E4-6EC7-4540-B0C0-C68C8DF09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0"/>
            <a:ext cx="33337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354320-58E0-4EE0-95D7-6F4F05A87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62250"/>
            <a:ext cx="2762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ค้นหาและกรองตามประเภทภัย</a:t>
            </a:r>
          </a:p>
          <a:p xmlns:a="http://schemas.openxmlformats.org/drawingml/2006/main">
            <a: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เก็บหลาย Version</a:t>
            </a:r>
          </a:p>
          <a:p xmlns:a="http://schemas.openxmlformats.org/drawingml/2006/main">
            <a: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กำหนดฉบับร่างหรือพร้อมใช้งาน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EC3AEF-B9BF-43D4-9342-EDC8411C2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71450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กฎทรัพยากร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B728FF-ACA3-4426-B0CC-374075B7C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286000"/>
            <a:ext cx="33337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9EC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4AB20E-9D5B-4F3F-9E28-BE750784E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762250"/>
            <a:ext cx="2762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กำหนดเงื่อนไขของภัย</a:t>
            </a:r>
          </a:p>
          <a:p xmlns:a="http://schemas.openxmlformats.org/drawingml/2006/main">
            <a: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คำนวณจำนวนที่ต้องใช้</a:t>
            </a:r>
          </a:p>
          <a:p xmlns:a="http://schemas.openxmlformats.org/drawingml/2006/main">
            <a: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เปิดปิดกฎตามพื้นที่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F4FC67-E03C-47B5-943A-93331AB7D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1450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ผลการเปรียบเทียบ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E98D71-8DAA-4618-8A0F-B27A16C75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86000"/>
            <a:ext cx="33337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A0E7B0-2393-4585-B4EC-F3668ABB5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62250"/>
            <a:ext cx="2762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แสดงต้องใช้ พร้อมใช้ และส่วนขาด</a:t>
            </a:r>
          </a:p>
          <a:p xmlns:a="http://schemas.openxmlformats.org/drawingml/2006/main">
            <a:pPr algn="ctr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ใช้วางแผนจัดหาและประสานหน่วยงาน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0E0D34-BB5F-4B0D-93D0-AA3265CE6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286375"/>
            <a:ext cx="685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4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4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4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4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4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4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4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4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4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4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สูตรควรอ้างหน่วยและข้อมูลพร้อมใช้ให้ตรงกับชุดข้อมูลนำเข้า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A52DA4-D57B-435B-8E7E-19C8B5E74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76375"/>
            <a:ext cx="7191375" cy="481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382DC8-2D47-4296-B51C-E953E8298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47875"/>
            <a:ext cx="6953250" cy="4191000"/>
          </a:xfrm>
          <a:prstGeom xmlns:a="http://schemas.openxmlformats.org/drawingml/2006/main" prst="roundRect">
            <a:avLst>
              <a:gd name="adj" fmla="val 2727"/>
            </a:avLst>
          </a:prstGeom>
          <a:solidFill xmlns:a="http://schemas.openxmlformats.org/drawingml/2006/main">
            <a:srgbClr val="F7F4ED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BA76B7-082D-43C6-842E-B6047C55F55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f078c3bdef4036"/>
          <a:srcRect xmlns:a="http://schemas.openxmlformats.org/drawingml/2006/main" l="220" t="0" r="22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" y="2143125"/>
            <a:ext cx="6762750" cy="3714750"/>
          </a:xfrm>
          <a:prstGeom xmlns:a="http://schemas.openxmlformats.org/drawingml/2006/main" prst="roundRect">
            <a:avLst>
              <a:gd name="adj" fmla="val 2051"/>
            </a:avLst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31F39A-52BB-4942-9690-D020F6854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534025"/>
            <a:ext cx="6762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E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4ED90B-52F7-445A-8BCE-9CC8826F8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562600"/>
            <a:ext cx="6534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รายการกฎการประเมินทรัพยากร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3C61AD-6073-465D-B35C-2794BFD14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476375"/>
            <a:ext cx="666750" cy="481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F059DB3-5306-45F2-80F7-F334E5A40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905375"/>
            <a:ext cx="20002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40412413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78DE3B-D93F-4A8D-BFDC-36C5969B2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>
            <a:def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บริหารกิจกรรม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E68AD6-0A7C-4DD1-BE51-736BF405A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หน้ากิจกรรมในพื้นที่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F45F2D-06F9-443E-9D16-1F391B584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AE15D9-7EC0-4FC5-A25F-C89EF2A5E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SMART TAMBON | หน้าจอและฟีเจอร์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CC000C-8668-4893-ABA2-3464CD24F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960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212B09-310C-4B3B-BF54-6A40F225F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ข้อมูลที่บันทึก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8950C3-C80D-494C-A95E-43455A98E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3145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3E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49F537-9F78-4277-8CA6-667D4D0E6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238375"/>
            <a:ext cx="45339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ชื่อ ประเภท ช่วงเวลา และสถานที่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40E237-F59E-48D8-B764-536FD1576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9527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3E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D83AB7-B04A-4FA8-8127-08E6B8A8A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876550"/>
            <a:ext cx="45339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จำนวนผู้เข้าร่วมและผู้ประสานงาน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65E6F4-8F53-448E-8624-9158F6B2A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909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3E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ADDF0E-8E67-420D-A662-2B7C5D8AE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514725"/>
            <a:ext cx="45339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ตำแหน่งบนแผนที่และภาพประกอบ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EC2665-9277-452E-93E2-1AFB0E835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291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3E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0E4CDF-B559-49B5-B861-520A7EE16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4152900"/>
            <a:ext cx="45339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สถานะรอรับเรื่อง กำลังดำเนินการ หรือสิ้นสุด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FA89A9-A5CC-4AD1-9B36-1F7129A4E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809750"/>
            <a:ext cx="409575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C91E08-E49A-431E-8343-9F99260F1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238375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การใช้งานร่วมกับแผนที่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4BE8AA-8F5E-4B60-85BB-FC557DE14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000375"/>
            <a:ext cx="304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6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6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6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6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6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6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6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6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6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6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6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6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กิจกรรมที่มีพิกัดจะแสดงเป็นชั้นข้อมูล</a:t>
            </a:r>
          </a:p>
          <a:p xmlns:a="http://schemas.openxmlformats.org/drawingml/2006/main">
            <a:pPr algn="ctr">
              <a:buNone/>
              <a:defRPr sz="16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6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ช่วยตรวจสอบความหนาแน่นของคนและเหตุที่อาจกระทบพื้นที่จัดงาน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D67CD2-6DFD-4A8C-A932-539ED22E4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381625"/>
            <a:ext cx="742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425" b="0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425" b="0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425" b="0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425" b="0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425" b="0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425" b="0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425" b="0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425" b="0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425" b="0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425" b="0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425" b="0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0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เจ้าหน้าที่รับทราบกิจกรรมได้จากรายการและสถานะแจ้งเตือน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FB5EB9-EC7E-4C78-BA39-D5CF2A11C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14500"/>
            <a:ext cx="5381625" cy="3381375"/>
          </a:xfrm>
          <a:prstGeom xmlns:a="http://schemas.openxmlformats.org/drawingml/2006/main" prst="roundRect">
            <a:avLst>
              <a:gd name="adj" fmla="val 3380"/>
            </a:avLst>
          </a:prstGeom>
          <a:solidFill xmlns:a="http://schemas.openxmlformats.org/drawingml/2006/main">
            <a:srgbClr val="F7F4ED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pic>
        <p:nvPic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55B656-7C42-4F75-9C40-7AFFAE72F21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b8807d40624244"/>
          <a:srcRect xmlns:a="http://schemas.openxmlformats.org/drawingml/2006/main" l="1140" t="0" r="114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1809750"/>
            <a:ext cx="5191125" cy="2905125"/>
          </a:xfrm>
          <a:prstGeom xmlns:a="http://schemas.openxmlformats.org/drawingml/2006/main" prst="roundRect">
            <a:avLst>
              <a:gd name="adj" fmla="val 2623"/>
            </a:avLst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BA4E67B-5B27-4DE4-B9F3-A9ED6EA6F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91025"/>
            <a:ext cx="5191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E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D0EE22-285E-4377-B23C-9885A07FF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419600"/>
            <a:ext cx="49625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กิจกรรมในพื้นที่</a:t>
            </a:r>
          </a:p>
        </p:txBody>
      </p:sp>
    </p:spTree>
    <p:extLst>
      <p:ext uri="{BB962C8B-B14F-4D97-AF65-F5344CB8AC3E}">
        <p14:creationId xmlns:p14="http://schemas.microsoft.com/office/powerpoint/2010/main" val="154079913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4E2595E-73E1-403D-8CE1-DA9B01BA3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>
            <a:def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สร้างและเผยแพร่ข่าว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F49042-AF90-497A-9D53-D8886F6B9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หน้าข่าวประชาสัมพันธ์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E61A1E-9824-4FDD-A5FB-11BDD3635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D34816-4744-4D7A-8129-BA413F601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SMART TAMBON | หน้าจอและฟีเจอร์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CC3E09-CC29-4E8D-AFA1-1C15A561E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960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4E9E70-A563-4B24-B53F-99A3551E3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80" y="220980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AD8EDD-6590-4EC9-9DF1-E1A3A7E44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208788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374D71-3266-4E32-A70A-25A44AABA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431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54C1C9-A60A-4E87-BFD3-0D83B89FA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924050"/>
            <a:ext cx="149733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เลือกข้อมูล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3A0063-9429-424B-A7A4-4CDDCA7EF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66950"/>
            <a:ext cx="18211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203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เหตุ กิจกรรม หรือข้อมูลหน่วยงาน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C2374A-8C24-4608-9024-19F05FC36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2510" y="220980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A7953D-FCA7-4ADB-85BE-E6CB0F715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4630" y="1809750"/>
            <a:ext cx="208788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B3BFD7-C155-4885-AECA-7AD23C51A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7980" y="19431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482F33-BF77-4B77-9177-DEC74F65D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0880" y="1924050"/>
            <a:ext cx="149733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สร้างเนื้อหา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D48A57-905C-4C71-8BC3-E54C1C1B7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7980" y="2266950"/>
            <a:ext cx="18211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550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หัวข้อ ประเด็นสำคัญ และบทอ่าน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74DD13-7765-4A19-9CB7-7A298196B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9940" y="220980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A500DF-7A40-4E41-A7E1-978D1AC63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2060" y="1809750"/>
            <a:ext cx="208788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573734-2955-46B4-8A44-E1AD16756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5410" y="19431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B96A95-CF2A-4AA2-B5C0-C86EC7539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8310" y="1924050"/>
            <a:ext cx="149733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ตรวจแก้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BC1527-FBB9-42F3-9896-E80784E26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5410" y="2266950"/>
            <a:ext cx="18211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แก้ข้อความก่อนเผยแพร่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FFDB56-DA91-48AE-A142-169711E5B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7370" y="220980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DFF5E6-3979-4514-89D4-8DD98420C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9490" y="1809750"/>
            <a:ext cx="208788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5F3969-E1E9-4662-9A38-961841EC0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2840" y="19431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C1E2BDC-57C6-4EFD-9C7A-C55CF5A36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5740" y="1924050"/>
            <a:ext cx="149733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สร้างสื่อ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5C87069-DE36-4F87-81B0-52AD82F84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2840" y="2266950"/>
            <a:ext cx="18211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603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เสียงหรือภาพข่าวตามผู้ให้บริการ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0AE96F9-06B1-49FD-A775-F22F16239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20" y="1809750"/>
            <a:ext cx="208788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85545DE-4801-4668-9D4F-3ACD69AB8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0270" y="19431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7DB01BE-EF70-4364-B75C-99AEBAD9D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3170" y="1924050"/>
            <a:ext cx="149733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เผยแพร่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2737D88-7B03-4518-A4DD-789D3C35D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0270" y="2266950"/>
            <a:ext cx="18211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ส่งผ่านช่องทางที่ตั้งค่าไว้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A818384-A2A3-4E27-A099-C3DF77556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619500"/>
            <a:ext cx="8953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E9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8D11C4D-1D26-484F-B63B-03D08C071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952875"/>
            <a:ext cx="8001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65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65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65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65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65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65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65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65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65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65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pPr>
            <a:r>
              <a:rPr sz="165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rPr>
              <a:t>การใช้ AI และเสียงขึ้นอยู่กับผู้ให้บริการที่ผู้ดูแลระบบเปิดใช้งาน การเผยแพร่ขึ้นอยู่กับสิทธิ์และช่องทางของหน่วยงาน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8FDC8DB-496C-4690-9E8F-DC30F7FD7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190875"/>
            <a:ext cx="9144000" cy="3000375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7F4ED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pic>
        <p:nvPic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AA1E291-BBC9-4A8A-806D-F3B6952D002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5feeeaee8c4f74"/>
          <a:srcRect xmlns:a="http://schemas.openxmlformats.org/drawingml/2006/main" l="0" t="24225" r="0" b="242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619250" y="3286125"/>
            <a:ext cx="8953500" cy="2524125"/>
          </a:xfrm>
          <a:prstGeom xmlns:a="http://schemas.openxmlformats.org/drawingml/2006/main" prst="roundRect">
            <a:avLst>
              <a:gd name="adj" fmla="val 3019"/>
            </a:avLst>
          </a:prstGeom>
        </p:spPr>
      </p:pic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DD9236B-FB84-46EF-BC48-9C46E2BFB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486400"/>
            <a:ext cx="895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E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C1816D8-2768-4AE7-A125-5FD1075D6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514975"/>
            <a:ext cx="8724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รายการข่าวประชาสัมพันธ์</a:t>
            </a:r>
          </a:p>
        </p:txBody>
      </p:sp>
    </p:spTree>
    <p:extLst>
      <p:ext uri="{BB962C8B-B14F-4D97-AF65-F5344CB8AC3E}">
        <p14:creationId xmlns:p14="http://schemas.microsoft.com/office/powerpoint/2010/main" val="63886780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ED4364-E4CC-4A4F-9284-1A7EDF9B1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>
            <a:def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CCTV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F3195D-2FD7-4E3F-B0AA-172616FC6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หน้ากล้องวงจรปิด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FD6467-A2D3-4FBC-AA59-18059CDBC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BB1583-0491-4FE6-A74D-F6B91ADDD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SMART TAMBON | หน้าจอและฟีเจอร์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8C6D05-4959-4870-972C-8A2C1CEC8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960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3E6891-040C-42BC-917E-70BD56251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9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9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9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9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9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9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9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9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9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9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9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ลงทะเบียนกล้อง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1E00C5-8990-4655-8700-11249B7C6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4098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3E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D61946-F2F2-4A49-BB7C-42C848361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2333625"/>
            <a:ext cx="38671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ชื่อและรหัสกล้อง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72BD39-6D77-4D81-8428-CB066AD51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0575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3E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D60B0D-61A2-442B-8850-DD6464184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2981325"/>
            <a:ext cx="38671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สถานะและตำแหน่ง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814B6A-0152-404B-921C-FA057F7B4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052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3E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C8EB60-9855-4065-A03E-AF2A89147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3629025"/>
            <a:ext cx="38671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URL สตรีมและวิธีเปิดดู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188930-0998-420F-81DB-A8ADA8278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1450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9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9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9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9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9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9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9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9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9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9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9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เปิดดูภาพ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FD553D-8E2B-45D9-B93E-8B5453027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4098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3E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FB6BA2-CDF2-40F1-A7DB-B9EE53C44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2333625"/>
            <a:ext cx="3962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เปิดจากหน้ารายการ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504AAC-8D75-4E61-9A29-1BC478BAB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0575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3E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E6087B-9E8F-44A8-AF88-129A905E3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2981325"/>
            <a:ext cx="3962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แสดงตำแหน่งเป็นชั้นข้อมูลบนแผนที่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AC6019-E2CC-4C7F-963B-69CA793A8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7052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3E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0D1454-D376-4145-B560-68C71EE08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3629025"/>
            <a:ext cx="3962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รองรับหน้าเว็บผู้ให้บริการแบบ Embed ตาม URL ที่กำหนด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BC6B4A-36C6-4AEF-9081-A558DA2A2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810125"/>
            <a:ext cx="85725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102E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9CEAAB-97DD-4C5B-9F9A-BB47012B8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019675"/>
            <a:ext cx="762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5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5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5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5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5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5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5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5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5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การเปิดภาพจริงขึ้นอยู่กับรูปแบบสตรีม สิทธิ์เข้าถึง และข้อกำหนดของผู้ให้บริการกล้อง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CEC363-1BB7-44C3-86B7-9418CE83B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381125"/>
            <a:ext cx="6619875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D6A6AA-3BA5-4F89-9579-51ECA0AEA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14875"/>
            <a:ext cx="90963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632B0E2-9839-4FA8-9FD9-A737707E0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571625"/>
            <a:ext cx="6238875" cy="3857625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7F4ED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pic>
        <p:nvPic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8160AAB-282F-42E4-9207-16588CF0AA9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687c8b98964ed5"/>
          <a:srcRect xmlns:a="http://schemas.openxmlformats.org/drawingml/2006/main" l="1089" t="0" r="108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0" y="1666875"/>
            <a:ext cx="6048375" cy="3381375"/>
          </a:xfrm>
          <a:prstGeom xmlns:a="http://schemas.openxmlformats.org/drawingml/2006/main" prst="roundRect">
            <a:avLst>
              <a:gd name="adj" fmla="val 2254"/>
            </a:avLst>
          </a:prstGeom>
        </p:spPr>
      </p:pic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1757F84-CFE8-48B1-BEA4-5A9011ECE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724400"/>
            <a:ext cx="60483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E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40BF579-7D95-40AE-AC2F-A5E0DD7DB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752975"/>
            <a:ext cx="58197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รายการกล้องวงจรปิด</a:t>
            </a:r>
          </a:p>
        </p:txBody>
      </p:sp>
    </p:spTree>
    <p:extLst>
      <p:ext uri="{BB962C8B-B14F-4D97-AF65-F5344CB8AC3E}">
        <p14:creationId xmlns:p14="http://schemas.microsoft.com/office/powerpoint/2010/main" val="194169474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D1FE02-6E7A-45B5-9487-4DDC2C07D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>
            <a:def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ติดตามแผนพัฒนาพื้นที่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81460A-5051-4A58-97D8-EEC0DE50F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หน้าโครงการ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7349AF-5CA1-4B6F-B6EF-C78530B0A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EF9809-E465-41C8-B395-9167AC0D2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SMART TAMBON | หน้าจอและฟีเจอร์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A3C18F-396A-4B1F-AF21-6E4074C5F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960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BD1D59-A707-4B94-B51F-24946C12D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66875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ข้อมูลโครงการ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C26606-6581-455C-87B2-93A2EF167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145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3E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2F3AE8-1726-46B0-8BD0-58A102681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38375"/>
            <a:ext cx="4629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ปีงบประมาณ งบประมาณ และหน่วยงานรับผิดชอบ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EA13AA-CF50-456B-8D1D-1AFEFB2EB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03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3E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4F5E67-1182-4B6C-A396-29755A697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24175"/>
            <a:ext cx="4629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ผลการอนุมัติ สถานะ และความคืบหน้า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F1C37C-7577-4D9E-B2A3-1619DE93C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861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3E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7334EB-9E1C-489D-B988-0D67F23F5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09975"/>
            <a:ext cx="4629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ตำแหน่งบนแผนที่และภาพประกอบ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E85C86-1829-437D-94D4-F8B9FAD31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66875"/>
            <a:ext cx="45720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E3704C-5042-4F1F-A635-B0B1A7D9C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047875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มุมมองบริหาร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B1CCC4-B39A-4118-90FA-C66D7CA3E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762250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281"/>
          </a:bodyPr>
          <a:lstStyle xmlns:a="http://schemas.openxmlformats.org/drawingml/2006/main">
            <a:defPPr algn="ctr">
              <a:defRPr sz="30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30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30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30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30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30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30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30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30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30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30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30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งบประมาณ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AA6AF7-F294-4CFE-ACCB-FCB08123E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314700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สรุปตามโครงการและปี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2B75BC-45E6-46E3-89EA-3E7DC8D24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762250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501"/>
          </a:bodyPr>
          <a:lstStyle xmlns:a="http://schemas.openxmlformats.org/drawingml/2006/main">
            <a:defPPr algn="ctr">
              <a:defRPr sz="300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300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300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300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300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300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300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300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300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300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300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pPr>
            <a:r>
              <a:rPr sz="300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rPr>
              <a:t>ความคืบหน้า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35A4AB-5878-4B1B-B12E-10C75EC64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314700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336"/>
          </a:bodyPr>
          <a:lstStyle xmlns:a="http://schemas.openxmlformats.org/drawingml/2006/main">
            <a:defPPr algn="ctr"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ติดตามสถานะการดำเนินงาน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DFFE9E-1021-43AA-8AD1-D6E47B88A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238750"/>
            <a:ext cx="609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5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5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5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5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5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5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5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5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5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5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โครงการที่มีพิกัดสามารถแสดงบนแผนที่เมือง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7F7B50-DFC3-4258-9C4A-5FBA639C2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381125"/>
            <a:ext cx="6619875" cy="428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16AD09-F64E-475E-BBC4-D0B242442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095875"/>
            <a:ext cx="61912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26208A-B3F7-4A64-8C5A-AB38AD2B0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1524000"/>
            <a:ext cx="6286500" cy="3905250"/>
          </a:xfrm>
          <a:prstGeom xmlns:a="http://schemas.openxmlformats.org/drawingml/2006/main" prst="roundRect">
            <a:avLst>
              <a:gd name="adj" fmla="val 2927"/>
            </a:avLst>
          </a:prstGeom>
          <a:solidFill xmlns:a="http://schemas.openxmlformats.org/drawingml/2006/main">
            <a:srgbClr val="F7F4ED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pic>
        <p:nvPic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AB06BDF-76DD-4A1E-BDC4-F444A38175C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ac358a03e64ee7"/>
          <a:srcRect xmlns:a="http://schemas.openxmlformats.org/drawingml/2006/main" l="1389" t="0" r="138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86375" y="1619250"/>
            <a:ext cx="6096000" cy="3429000"/>
          </a:xfrm>
          <a:prstGeom xmlns:a="http://schemas.openxmlformats.org/drawingml/2006/main" prst="roundRect">
            <a:avLst>
              <a:gd name="adj" fmla="val 2222"/>
            </a:avLst>
          </a:prstGeom>
        </p:spPr>
      </p:pic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F1269FE-7739-4E8F-A322-1A5098662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724400"/>
            <a:ext cx="609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E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ED2B7B0-3CF3-42B5-A758-215AA93E4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4752975"/>
            <a:ext cx="5867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งบประมาณและรายการโครงการ</a:t>
            </a:r>
          </a:p>
        </p:txBody>
      </p:sp>
    </p:spTree>
    <p:extLst>
      <p:ext uri="{BB962C8B-B14F-4D97-AF65-F5344CB8AC3E}">
        <p14:creationId xmlns:p14="http://schemas.microsoft.com/office/powerpoint/2010/main" val="208698094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AA21BF9-52E3-40D8-A1D7-A4275F1C0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>
            <a:def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จัดการข้อมูลหน่วยงาน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43F5D9-65DF-46D2-B94A-B54B0D3B9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หน้านำเข้าข้อมูล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068C2F-B76D-4315-A29C-621C2F4AB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8A2AC1-466C-4F2D-B3F3-CACE4B405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SMART TAMBON | หน้าจอและฟีเจอร์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9B0DB9-E0D4-4497-82CB-7048A7D0B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960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BB0804-4CC8-4774-8C76-1DB39C329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80" y="211455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A86290-0347-4F60-8E8A-C821E7EEF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14500"/>
            <a:ext cx="208788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70DBD1-03DC-4D84-AD67-B9868CA87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478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8B7874-1B7F-483D-9148-00C7EEACA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28800"/>
            <a:ext cx="149733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เลือกประเภท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B49709-4423-41D9-A7AA-17B62927A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71700"/>
            <a:ext cx="18211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1783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ประชากร ทีม บุคลากร ทรัพยากร หรือข้อมูลเฉพาะ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0C6C56-33A6-4BA0-AECA-6110F8DB8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2510" y="211455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FE1839-BC90-4E6D-9B48-8EE320A61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4630" y="1714500"/>
            <a:ext cx="208788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08DA9F-AE94-4A64-B75F-957B88BA1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7980" y="18478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0E04EB-098B-449C-8F9F-4E744625E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0880" y="1828800"/>
            <a:ext cx="149733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เพิ่มข้อมูล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2F91DF-13B9-41F0-9861-C12262F46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7980" y="2171700"/>
            <a:ext cx="18211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กรอกเองหรืออัปโหลดไฟล์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CE9347-4F87-47FA-9062-25003C706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9940" y="211455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1AFC2E-FDB9-45BE-9F2E-5D7DAB97D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2060" y="1714500"/>
            <a:ext cx="208788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0BCFD5-B599-4EC7-80CC-4DF8C1807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5410" y="18478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549BCB-28D1-4170-9BB5-9E9677BCC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8310" y="1828800"/>
            <a:ext cx="149733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ตรวจสอบ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EAA99F-0BE9-400B-8C08-57221F41F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5410" y="2171700"/>
            <a:ext cx="18211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4217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ดูตัวอย่าง จับคู่คอลัมน์ และแก้ข้อผิดพลาด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93DA6B-D9DC-437E-BDAF-24FD964AF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7370" y="211455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9F317C-0B4E-4210-99A8-CF056AFEA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9490" y="1714500"/>
            <a:ext cx="208788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87F552E-3EFE-4721-89B7-524520C63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2840" y="18478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18C9E4B-1F91-4855-9C86-9A6F36201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5740" y="1828800"/>
            <a:ext cx="149733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บันทึก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ECE75D6-DD3C-47EA-BAED-8C3B974A2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2840" y="2171700"/>
            <a:ext cx="18211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เลือกเพิ่ม แทนที่ หรือสร้างรุ่น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30ED13D-A9B2-4BC8-83C0-DC3D9D2D2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20" y="1714500"/>
            <a:ext cx="208788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6C91703-73B0-4984-BCB4-CA6CBF522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0270" y="18478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C5EF9FF-91A5-4E42-8062-F2C9617FF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3170" y="1828800"/>
            <a:ext cx="149733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ติดตาม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37A3151-C9C2-45CF-88A0-0A7E0E9B3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0270" y="2171700"/>
            <a:ext cx="18211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4017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ดู Version ประวัติ และดาวน์โหลดต้นฉบับ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2F17C46-9136-454E-8FF8-EE2A7040D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810000"/>
            <a:ext cx="9334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6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6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6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6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6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6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6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6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6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6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6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รูปแบบเชิงพื้นที่รองรับ KMZ, KML, GeoJSON และ Shapefile ที่มีองค์ประกอบครบ โดยควรใช้ WGS84 หรือ EPSG:4326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40CD055-99D6-4D96-8EB2-52D9D3ECF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1435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425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425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425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425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425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425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425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425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425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425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425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0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ข้อมูลที่นำเข้าจะเชื่อมกับ dashboard การประเมิน และรายการเลือกทรัพยากร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39115EE-337D-4371-B921-511C0568E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09875"/>
            <a:ext cx="11191875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5EA0559-4C9C-4DF8-834B-E4812CA96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57625"/>
            <a:ext cx="3810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นำเข้าด้วยไฟล์หรือกรอกเอง</a:t>
            </a:r>
          </a:p>
          <a:p xmlns:a="http://schemas.openxmlformats.org/drawingml/2006/main">
            <a:pPr algn="ctr">
              <a:def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7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ตรวจสอบข้อมูลและจัดเก็บเป็นรุ่น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830FB54-C2B2-412F-875E-BF44983CC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905125"/>
            <a:ext cx="6191250" cy="3381375"/>
          </a:xfrm>
          <a:prstGeom xmlns:a="http://schemas.openxmlformats.org/drawingml/2006/main" prst="roundRect">
            <a:avLst>
              <a:gd name="adj" fmla="val 3380"/>
            </a:avLst>
          </a:prstGeom>
          <a:solidFill xmlns:a="http://schemas.openxmlformats.org/drawingml/2006/main">
            <a:srgbClr val="F7F4ED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pic>
        <p:nvPic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B8410B4-33A1-41D9-BE45-0575461FA40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18438eda6943ce"/>
          <a:srcRect xmlns:a="http://schemas.openxmlformats.org/drawingml/2006/main" l="0" t="5737" r="0" b="573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81625" y="3000375"/>
            <a:ext cx="6000750" cy="2905125"/>
          </a:xfrm>
          <a:prstGeom xmlns:a="http://schemas.openxmlformats.org/drawingml/2006/main" prst="roundRect">
            <a:avLst>
              <a:gd name="adj" fmla="val 2623"/>
            </a:avLst>
          </a:prstGeom>
        </p:spPr>
      </p:pic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6345AAC-BF54-4747-92D8-CE717237A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5581650"/>
            <a:ext cx="600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E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0EF9CC0-BF17-43F6-88CB-A5D9B4C17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5610225"/>
            <a:ext cx="5772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หน้าจัดการชุดข้อมูลและรุ่นข้อมูล</a:t>
            </a:r>
          </a:p>
        </p:txBody>
      </p:sp>
    </p:spTree>
    <p:extLst>
      <p:ext uri="{BB962C8B-B14F-4D97-AF65-F5344CB8AC3E}">
        <p14:creationId xmlns:p14="http://schemas.microsoft.com/office/powerpoint/2010/main" val="26140416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51D05D-4B34-4916-8F2C-9BDE7BBAB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>
            <a:def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ถาม วิเคราะห์ และเก็บผลลัพธ์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EE35B1-F7EB-4436-9224-D0E56F635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หน้าผู้ช่วย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68FDF6-AE64-4396-AA98-16D4E0B8E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D6D7A9-C064-4404-B084-42CCA38C8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SMART TAMBON | หน้าจอและฟีเจอร์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40C7EB-38C7-4AF6-8666-08A2479F8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960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F5EDF9-286D-4A4F-AB90-F6861424F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1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สิ่งที่ผู้ใช้ทำได้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A6CA2B-1C8F-4428-BB86-24C6C8715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2669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3E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3F66D9-E107-4F63-8E5A-C45FB0437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190750"/>
            <a:ext cx="5486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ถามข้อมูลเหตุ ภัย กิจกรรม โครงการ และสิ่งแวดล้อม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8B7C30-8697-40DC-B164-B750FF6DD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9146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3E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3D834B-ECD8-4643-8D7F-082604652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838450"/>
            <a:ext cx="5486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ขอผลลัพธ์เป็นข้อความ ตาราง ตัวชี้วัด หรือกราฟ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C42CBE-BD14-4654-8C35-4F6A053DE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5623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3E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85B846-B6DB-41D9-9EF6-70E68FD88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486150"/>
            <a:ext cx="5486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บันทึกคำถามเป็น Snippet และรันใหม่ด้วยข้อมูลล่าสุด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81B2D0-F77F-4EE3-B6D6-55DF20358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2100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3E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BB99A8-B507-4B03-9B27-89D2B33F4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133850"/>
            <a:ext cx="5486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พิมพ์หรือบันทึกผลเป็น PDF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3FC262-161A-49FE-A93B-DE5949696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371475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E9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6BFB25-CFAE-45CF-B790-9E19075FE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238375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875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875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875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875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875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875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875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875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875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rPr>
              <a:t>หลักการสิทธิ์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3CC6E6-4097-4B74-BBE4-F7F0A1AA4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952750"/>
            <a:ext cx="2667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240"/>
          </a:bodyPr>
          <a:lstStyle xmlns:a="http://schemas.openxmlformats.org/drawingml/2006/main">
            <a:defPPr algn="ctr"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ผู้ช่วย AI ใช้เฉพาะข้อมูลที่บัญชีมีสิทธิ์เข้าถึง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ผู้ดูแลระบบกำหนดผู้ให้บริการและโมเดลที่เปิดใช้งาน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2DF6C4-C509-4B90-B7C7-D18CD1EFA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381625"/>
            <a:ext cx="704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4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4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4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4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4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4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4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4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4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4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ผลวิเคราะห์ที่บันทึกควรตรวจเวลาอัปเดตก่อนนำไปใช้ตัดสินใจ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1B6272-2644-4B91-BCFB-1831E346F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619250"/>
            <a:ext cx="5953125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7F4ED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pic>
        <p:nvPic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4535BF-A1FA-4143-B3D0-F6D25273669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7bdce1a74146d1"/>
          <a:srcRect xmlns:a="http://schemas.openxmlformats.org/drawingml/2006/main" l="1344" t="0" r="134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19750" y="1714500"/>
            <a:ext cx="5762625" cy="3238500"/>
          </a:xfrm>
          <a:prstGeom xmlns:a="http://schemas.openxmlformats.org/drawingml/2006/main" prst="roundRect">
            <a:avLst>
              <a:gd name="adj" fmla="val 2353"/>
            </a:avLst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51B2AB-12C5-47E3-9BD0-D75B09FFE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629150"/>
            <a:ext cx="5762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E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EC74F8-35D1-43D9-BFCA-7D22214E5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657725"/>
            <a:ext cx="55340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หน้าสนทนาและผลวิเคราะห์จากผู้ช่วย AI</a:t>
            </a:r>
          </a:p>
        </p:txBody>
      </p:sp>
    </p:spTree>
    <p:extLst>
      <p:ext uri="{BB962C8B-B14F-4D97-AF65-F5344CB8AC3E}">
        <p14:creationId xmlns:p14="http://schemas.microsoft.com/office/powerpoint/2010/main" val="182515206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98DD56-89BD-405A-BD97-DEA38CFF3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>
            <a:def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บัญชี บทบาท และพื้นที่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A3BD6E-A786-4BE0-B17A-74952E058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หน้าจัดการผู้ใช้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CA2382-5477-4E95-ADAC-10815B838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0A9135-C06B-43FE-B3F4-1586D21D1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SMART TAMBON | หน้าจอและฟีเจอร์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2DF69C-BAC9-4358-9B71-F11B0FF9B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960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CE091F-2A8B-4804-8729-39FDF0B28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สร้างบัญชี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5113E2-F0EE-49BB-A162-AC1DD46DF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33337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A76A83-A464-4ED6-A738-5C29060DB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57500"/>
            <a:ext cx="2762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กำหนดชื่อผู้ใช้ รหัสผ่าน บทบาท และขอบเขต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8EDD21-BF8A-4C7A-9E2D-9F4474885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80975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เลือกพื้นที่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30286B-319D-478F-AB3E-6528995F7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81250"/>
            <a:ext cx="33337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27D7CD-5A4B-4409-90E6-129047B9B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857500"/>
            <a:ext cx="2762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เลือกตำบลหลายพื้นที่ หรืออัปโหลดไฟล์ขอบเขต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640D32-A75A-4429-ACE9-06CEBD636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0975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แก้ไขและลบ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B3606B-BC73-4B56-9F21-5CAC30AEC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381250"/>
            <a:ext cx="33337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71012B-CCD7-471E-BB8B-F395A4F67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857500"/>
            <a:ext cx="2762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เปลี่ยนสิทธิ์ พื้นที่ หรือรหัสผ่าน พร้อมข้อจำกัดผู้ดูแลคนสุดท้าย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E75953-97A2-4761-A003-2B9CDB5B9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953000"/>
            <a:ext cx="86677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2E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D42119-1DA0-499B-8263-8417BD010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143500"/>
            <a:ext cx="781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217"/>
          </a:bodyPr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5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5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5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5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5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5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5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5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5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ผู้ดูแลประจำ อบต. จัดการเฉพาะบัญชีในหน่วยงาน ส่วนผู้ดูแลระบบส่วนกลางจัดการได้ทุกหน่วยงาน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645CF8-28AD-4690-BC80-10B4FEF23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714500"/>
            <a:ext cx="6619875" cy="433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57B219-492C-4566-9A6C-A92126C05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62500"/>
            <a:ext cx="90963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726A70-5713-4159-8E2E-42D02FD1A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000250"/>
            <a:ext cx="6286500" cy="3905250"/>
          </a:xfrm>
          <a:prstGeom xmlns:a="http://schemas.openxmlformats.org/drawingml/2006/main" prst="roundRect">
            <a:avLst>
              <a:gd name="adj" fmla="val 2927"/>
            </a:avLst>
          </a:prstGeom>
          <a:solidFill xmlns:a="http://schemas.openxmlformats.org/drawingml/2006/main">
            <a:srgbClr val="F7F4ED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pic>
        <p:nvPic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63618C-8650-48B4-8776-42360297A62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e88fae7e834b10"/>
          <a:srcRect xmlns:a="http://schemas.openxmlformats.org/drawingml/2006/main" l="1389" t="0" r="138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86375" y="2095500"/>
            <a:ext cx="6096000" cy="3429000"/>
          </a:xfrm>
          <a:prstGeom xmlns:a="http://schemas.openxmlformats.org/drawingml/2006/main" prst="roundRect">
            <a:avLst>
              <a:gd name="adj" fmla="val 2222"/>
            </a:avLst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5A0C439-2B8E-4C74-A700-B7BEA5F7F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5200650"/>
            <a:ext cx="609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E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0A20AB-54C5-4922-964C-A7D92C884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5229225"/>
            <a:ext cx="5867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รายการผู้ใช้และสิทธิ์ของหน่วยงาน</a:t>
            </a:r>
          </a:p>
        </p:txBody>
      </p:sp>
    </p:spTree>
    <p:extLst>
      <p:ext uri="{BB962C8B-B14F-4D97-AF65-F5344CB8AC3E}">
        <p14:creationId xmlns:p14="http://schemas.microsoft.com/office/powerpoint/2010/main" val="44613681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21555E-6F2F-455C-B3AF-7DA32AEA2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>
            <a:def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การกำหนดค่าการทำงาน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033AA0-4720-4975-A422-2ED863BAD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หน้าตั้งค่าระบบและการแจ้งเตือน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7CD6F1-C03E-4BCC-A731-721DE2FD1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1EC5A9-1B4A-4935-85AA-6977D2BCF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SMART TAMBON | หน้าจอและฟีเจอร์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6978E3-3DC8-4178-B71B-E429BA5C1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960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B1F1EB-D94E-4F56-A1C3-DA489E777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571625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ระดับหน่วยงาน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2C2D72-D37B-446D-B65C-BECF330F0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571625"/>
            <a:ext cx="7524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ข้อมูลหน่วยงาน โลโก้ การแจ้งเตือนในระบบ ค่าเริ่มต้นแผนที่ และลิงก์แจ้งเหตุ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C94B6F-3D72-4BC5-88B8-881D7D71E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409825"/>
            <a:ext cx="7524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FD56FC-7804-4384-9366-ABE3DE464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9527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ช่องทางและข้อความ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953DF1-15EC-4ACB-B724-EAF17941F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952750"/>
            <a:ext cx="7524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LINE OA หลายกลุ่ม แท็กที่รับ เทมเพลต ตัวแปร และหน้าทดสอบการส่ง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FCA6C1-1102-4542-91AA-24A1ACEF5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790950"/>
            <a:ext cx="7524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CE581B-7465-45BA-A3BD-A099CE076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333875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8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ระดับส่วนกลาง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FF7A46-755A-4174-8BD6-3E626EAD7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333875"/>
            <a:ext cx="7524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500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ชื่อระบบ คีย์แผนที่ การลงทะเบียน สถานะระบบ ผู้ให้บริการ AI เสียง และ SMS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650BFE-F45A-4D73-8122-8869F2745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172075"/>
            <a:ext cx="7524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4456DC-497E-4CB7-B61B-BF43C6B81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619750"/>
            <a:ext cx="781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356B78"/>
                </a:solidFill>
                <a:latin typeface="Leelawadee UI"/>
                <a:ea typeface="Leelawadee UI"/>
                <a:cs typeface="Leelawadee UI"/>
              </a:rPr>
              <a:t>ประวัติการส่งล่าสุดแสดงเวลา ช่องทาง แท็ก ที่มา ผลการส่ง ผู้ดำเนินการ และข้อความ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501F54-0B88-48A3-8532-FD8581108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381125"/>
            <a:ext cx="8429625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AD2988-62BA-4A0C-90D9-3F03C1075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571625"/>
            <a:ext cx="5762625" cy="361950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7F4ED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B4190F-37A4-4CE5-BC09-263DA6D2947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f77a88f160457e"/>
          <a:srcRect xmlns:a="http://schemas.openxmlformats.org/drawingml/2006/main" l="1527" t="0" r="152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10250" y="1666875"/>
            <a:ext cx="5572125" cy="3143250"/>
          </a:xfrm>
          <a:prstGeom xmlns:a="http://schemas.openxmlformats.org/drawingml/2006/main" prst="roundRect">
            <a:avLst>
              <a:gd name="adj" fmla="val 2424"/>
            </a:avLst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155460-D603-457C-ACFE-D47F580CF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486275"/>
            <a:ext cx="5572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E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734352-513B-432E-B439-B30F324C4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514850"/>
            <a:ext cx="53435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ตั้งค่าช่องทางแจ้งเตือน</a:t>
            </a:r>
          </a:p>
        </p:txBody>
      </p:sp>
    </p:spTree>
    <p:extLst>
      <p:ext uri="{BB962C8B-B14F-4D97-AF65-F5344CB8AC3E}">
        <p14:creationId xmlns:p14="http://schemas.microsoft.com/office/powerpoint/2010/main" val="171862710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105C9C9-8CA3-44A6-88B7-79CAB1E11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>
            <a:def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ช่องทางประชาชน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7B991B-601B-4F46-88CF-D3751F138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การแจ้งเหตุสาธารณะและการติดตามผ่าน SMS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C24EE0-3FF2-4585-93C8-FA76FF885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2F53DD-F7A6-4166-9820-11CBE93DB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SMART TAMBON | หน้าจอและฟีเจอร์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5E9EE7-FCAE-40DC-9863-50B5338B1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960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17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C07576-CD0B-4E80-929C-6DCE38190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80" y="220980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403930-52CD-4CB5-B089-969C8FF51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208788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833EC7-D41C-4667-977F-237D00F0C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431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EECF66-6E69-406E-8730-FECC0488C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924050"/>
            <a:ext cx="149733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เปิดลิงก์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62C389-FC63-481A-BB44-3EE55E677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66950"/>
            <a:ext cx="18211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2003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ประชาชนเข้าผ่าน URL ของหน่วยงาน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4F0DC4-38DD-4018-947A-D664F8F10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2510" y="220980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08EB11-500C-4394-8BB5-4F325AF51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4630" y="1809750"/>
            <a:ext cx="208788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954136-9414-40EF-91D1-111577A1A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7980" y="19431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C562D4-412B-40BA-8EC7-13AECF02D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0880" y="1924050"/>
            <a:ext cx="149733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กรอกเหตุ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1CAFB5-AF4A-4CCB-B35D-E1B08A67B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7980" y="2266950"/>
            <a:ext cx="18211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250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รายละเอียด ผู้แจ้ง ภาพ และตำแหน่ง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151AB9-045C-4EED-81FD-B6F0E4A29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9940" y="220980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E18A87-CCE7-4859-809A-C8106CE54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2060" y="1809750"/>
            <a:ext cx="208788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7B14B8-F310-40ED-9979-880CC0E95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5410" y="19431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E25731-A9DA-4C4E-9EE1-DC6D674B7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8310" y="1924050"/>
            <a:ext cx="149733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รับเลขอ้างอิง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DDAA00-7AB5-4E00-B629-FFEA81645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5410" y="2266950"/>
            <a:ext cx="18211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250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ระบบสร้างรายการเหตุให้เจ้าหน้าที่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314728-A75D-449B-9B22-690F949B7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7370" y="220980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D50641E-9D4E-4C34-9789-DDB81AC82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9490" y="1809750"/>
            <a:ext cx="208788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7A8C99-C5C8-4DD3-B016-947B52EE3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2840" y="19431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6A70E63-2DD7-4FF0-AE7E-A1C31F849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5740" y="1924050"/>
            <a:ext cx="149733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ส่งลิงก์ติดตาม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3B08CE-504F-4626-8BCE-8F09E8EB4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2840" y="2266950"/>
            <a:ext cx="18211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SMS แจ้ง URL แบบ token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5BF4AB9-8B19-4FDD-A958-AE17455DA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20" y="1809750"/>
            <a:ext cx="208788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0B2AF96-8E16-4881-9EB2-5510658AA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0270" y="19431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926EE22-7A48-4C10-8BCC-71FAF5AE5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3170" y="1924050"/>
            <a:ext cx="149733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ติดตามผล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5745220-6D02-4895-9EE2-239246386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0270" y="2266950"/>
            <a:ext cx="18211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ดูสถานะโดยไม่ต้องเข้าสู่ระบบ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66F857F-9515-4EB9-9A4A-E5460F163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714750"/>
            <a:ext cx="87630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9EC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D4242BF-C1BD-4FA5-894B-5DF5FFE58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048125"/>
            <a:ext cx="781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242"/>
          </a:bodyPr>
          <a:lstStyle xmlns:a="http://schemas.openxmlformats.org/drawingml/2006/main">
            <a:defPPr algn="ctr">
              <a:defRPr sz="16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6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6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6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6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6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6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6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6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6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6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6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ผู้ดูแลสามารถปิดการรับแจ้ง เปลี่ยนข้อความแนะนำ และสร้างลิงก์ใหม่เมื่อสงสัยว่าลิงก์เดิมรั่วไหล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8A3B935-5C65-404E-A4E6-2300F5AF8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381375"/>
            <a:ext cx="9906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6067F53-619C-4675-A76C-C9FE6CABA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000500"/>
            <a:ext cx="3810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16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16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16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16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16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16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16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16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16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6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ผู้ดูแลกำหนดข้อความแนะนำและเปิดหรือปิดลิงก์สาธารณะได้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B417D68-B214-4148-9823-7821F2661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952750"/>
            <a:ext cx="5381625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7F4ED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pic>
        <p:nvPic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5D7D6F8-11B0-4DDC-9E43-96A7FB19695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7cb505a76a45e1"/>
          <a:srcRect xmlns:a="http://schemas.openxmlformats.org/drawingml/2006/main" l="326" t="0" r="32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0" y="3048000"/>
            <a:ext cx="5191125" cy="2857500"/>
          </a:xfrm>
          <a:prstGeom xmlns:a="http://schemas.openxmlformats.org/drawingml/2006/main" prst="roundRect">
            <a:avLst>
              <a:gd name="adj" fmla="val 2667"/>
            </a:avLst>
          </a:prstGeom>
        </p:spPr>
      </p:pic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52A1AA2-F619-41E6-A08C-93F74B9FC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581650"/>
            <a:ext cx="5191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E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A6EEA6B-A383-4B90-9B67-9D2C8BD25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610225"/>
            <a:ext cx="49625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9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แบบฟอร์มแจ้งเหตุสาธารณะ</a:t>
            </a:r>
          </a:p>
        </p:txBody>
      </p:sp>
    </p:spTree>
    <p:extLst>
      <p:ext uri="{BB962C8B-B14F-4D97-AF65-F5344CB8AC3E}">
        <p14:creationId xmlns:p14="http://schemas.microsoft.com/office/powerpoint/2010/main" val="214144000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08E0ACA-E1AA-4880-9490-08EEF9339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>
            <a:def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การทำงานร่วมกัน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F3D759-09C8-454A-A442-D74B03512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Workflow หลักตั้งแต่รับข้อมูลถึงสื่อสารผล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1B1D58-A554-4143-968A-DDA0A5707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1A06E6-1685-49C1-BE33-7DEC3C0CF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SMART TAMBON | หน้าจอและฟีเจอร์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9BA5CF-706C-4FCF-BAAD-14AA6270A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960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7F1A3D-E429-47D1-AE7A-2278775E3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80" y="2257425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7B390C-C32A-468E-A02B-40A3718DF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57375"/>
            <a:ext cx="208788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B41994-87ED-410D-82AA-A1DE5431A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9072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21E66A-CB9F-4AF1-B6FF-37824FB80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971675"/>
            <a:ext cx="149733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ข้อมูลเข้า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093E92-29CA-4402-96E9-2E36ADB7F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14575"/>
            <a:ext cx="18211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603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แจ้งเหตุ เซนเซอร์ ไฟล์ และข้อมูลเจ้าหน้าที่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C711C2-1651-4FBF-B9C7-57B75E02B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2510" y="2257425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F06F73-124B-4075-9EF6-7EB406500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4630" y="1857375"/>
            <a:ext cx="208788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88D4AB-7FCC-4A25-8C15-3AC9391C7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7980" y="199072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F9A9D9-457F-4BCC-A7C1-0B36CD3CD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0880" y="1971675"/>
            <a:ext cx="149733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ตรวจสอบ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0078B1-535D-483C-B780-1915F31D5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7980" y="2314575"/>
            <a:ext cx="18211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217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สิทธิ์ คุณภาพข้อมูล และตำแหน่ง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08AA1C-33DA-4B02-A95C-A6F6C5DB9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9940" y="2257425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C9D762-A848-47F5-B704-2C5CAF889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2060" y="1857375"/>
            <a:ext cx="208788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FFE0DA-8DF6-4DFA-91AC-82FCBCD08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5410" y="199072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741AD7-39BD-49A6-83FF-55793F237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8310" y="1971675"/>
            <a:ext cx="149733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ปฏิบัติการ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764CCE-64DC-4DA1-A9B2-C4A481573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5410" y="2314575"/>
            <a:ext cx="18211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857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มอบหมาย ประเมิน และจัดทรัพยากร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6B41E4-FB9F-4520-A790-A3B2267BB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7370" y="2257425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51BB40-1D32-417F-B31D-CF4262DF0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9490" y="1857375"/>
            <a:ext cx="208788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4A85F7-B4E5-4FE4-A15B-15EC57491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2840" y="199072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BE23153-961A-43AD-BB55-96BF07641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5740" y="1971675"/>
            <a:ext cx="149733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ติดตาม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CAB30BE-3C91-43FD-8F9C-42D6F7CA4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2840" y="2314575"/>
            <a:ext cx="18211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850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สถานะ ประวัติ Version และผลวิเคราะห์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DA3C74B-630D-4661-90DA-34BF80D05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20" y="1857375"/>
            <a:ext cx="208788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01DECB6-37FA-48FA-9417-568FFAD71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0270" y="199072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350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3B06EFC-89F1-4DF5-A111-81E83D205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3170" y="1971675"/>
            <a:ext cx="149733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สื่อสาร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6E63C19-03B5-4393-94B3-ED589AC31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0270" y="2314575"/>
            <a:ext cx="18211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1030"/>
          </a:bodyPr>
          <a:lstStyle xmlns:a="http://schemas.openxmlformats.org/drawingml/2006/main">
            <a:defPPr algn="ctr"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11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แจ้งเตือน SMS ข่าว เสียง และลิงก์สาธารณะ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216746F-4B2C-4F48-B168-3D283881D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00500"/>
            <a:ext cx="9144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หน้าจอแต่ละส่วนเชื่อมกันผ่านข้อมูลพื้นที่และสิทธิ์ของผู้ใช้ จึงควรตั้งค่าขอบเขตและชุดข้อมูลพื้นฐานก่อนเริ่มใช้งานจริง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35F921E-283E-4E9A-B42C-54F1C4924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381625"/>
            <a:ext cx="609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425" b="0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425" b="0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425" b="0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425" b="0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425" b="0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425" b="0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425" b="0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425" b="0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425" b="0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425" b="0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425" b="0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0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ตรวจสอบแหล่งข้อมูลและเวลาที่อัปเดตก่อนใช้ตัดสินใจทุกครั้ง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8C84C7D-304B-4CB9-A9D6-BF03714C6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95625"/>
            <a:ext cx="9906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806AE09-38E4-4DA8-86A0-E46C7B56E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324225"/>
            <a:ext cx="4114800" cy="25146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pic>
        <p:nvPic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8ED9348-752E-424F-A571-7552ABEE406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30fa51d8704f98"/>
          <a:srcRect xmlns:a="http://schemas.openxmlformats.org/drawingml/2006/main" l="68" t="0" r="6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76375" y="3381375"/>
            <a:ext cx="4000500" cy="2190750"/>
          </a:xfrm>
          <a:prstGeom xmlns:a="http://schemas.openxmlformats.org/drawingml/2006/main" prst="roundRect">
            <a:avLst>
              <a:gd name="adj" fmla="val 3478"/>
            </a:avLst>
          </a:prstGeom>
        </p:spPr>
      </p:pic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0E4DE9A-77EC-4C7F-B954-43AF5E07E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59117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>
            <a:def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ข้อมูลพื้นฐานและทรัพยากร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540C542-77AE-4E4E-BD2D-177AE9920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324225"/>
            <a:ext cx="4114800" cy="25146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DC"/>
            </a:solidFill>
            <a:prstDash val="solid"/>
          </a:ln>
        </p:spPr>
      </p:sp>
      <p:pic>
        <p:nvPic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6DF20CC-CE88-403E-91C0-478690297F3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6f317fcf0f418d"/>
          <a:srcRect xmlns:a="http://schemas.openxmlformats.org/drawingml/2006/main" l="68" t="0" r="6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15125" y="3381375"/>
            <a:ext cx="4000500" cy="2190750"/>
          </a:xfrm>
          <a:prstGeom xmlns:a="http://schemas.openxmlformats.org/drawingml/2006/main" prst="roundRect">
            <a:avLst>
              <a:gd name="adj" fmla="val 3478"/>
            </a:avLst>
          </a:prstGeom>
        </p:spPr>
      </p:pic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BB1332A-DA95-48EF-BCA2-23004E6D5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559117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>
            <a:def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รายการภัยพิบัติ</a:t>
            </a:r>
          </a:p>
        </p:txBody>
      </p:sp>
    </p:spTree>
    <p:extLst>
      <p:ext uri="{BB962C8B-B14F-4D97-AF65-F5344CB8AC3E}">
        <p14:creationId xmlns:p14="http://schemas.microsoft.com/office/powerpoint/2010/main" val="142844405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5F1EBC-6C1E-43CB-A1F6-5778C0B07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>
            <a:defPPr algn="l"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0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จบการใช้งาน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E0FA01-5631-4874-8D29-5D581C4B1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defRPr>
            </a:pPr>
            <a:r>
              <a:rPr sz="2550" b="1">
                <a:solidFill>
                  <a:srgbClr val="102E27"/>
                </a:solidFill>
                <a:latin typeface="Leelawadee UI"/>
                <a:ea typeface="Leelawadee UI"/>
                <a:cs typeface="Leelawadee UI"/>
              </a:rPr>
              <a:t>การออกจากระบบและข้อควรระวัง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A5F43F-5732-4314-AEE0-F6144E1B8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B61BDC-29C7-45B5-814D-D77C0668E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>
            <a:defPPr algn="l"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defRPr>
            </a:pPr>
            <a:r>
              <a:rPr sz="825" b="0">
                <a:solidFill>
                  <a:srgbClr val="5D6B65"/>
                </a:solidFill>
                <a:latin typeface="Leelawadee UI"/>
                <a:ea typeface="Leelawadee UI"/>
                <a:cs typeface="Leelawadee UI"/>
              </a:rPr>
              <a:t>SMART TAMBON | หน้าจอและฟีเจอร์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1692CA-9A1A-4456-8946-746B900C4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960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>
            <a:defPPr algn="r"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r">
              <a:buNone/>
              <a:def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90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10092F-EA9C-433F-9764-8EE7D4EEA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9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9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9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9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9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9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9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9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9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9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defRPr>
            </a:pPr>
            <a:r>
              <a:rPr sz="1950" b="1">
                <a:solidFill>
                  <a:srgbClr val="2F604F"/>
                </a:solidFill>
                <a:latin typeface="Leelawadee UI"/>
                <a:ea typeface="Leelawadee UI"/>
                <a:cs typeface="Leelawadee UI"/>
              </a:rPr>
              <a:t>ก่อนออกจากระบบ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B4EB66-CE0A-4A8C-BE74-BFA6A7596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3E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F427F7-A4FA-49EB-B9E2-DE08B948C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333625"/>
            <a:ext cx="4724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บันทึกข้อมูลและตรวจสถานะงานที่กำลังแก้ไข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CC269E-A543-4340-998F-A1BFFA66D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0765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3E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9C3AE4-A8D8-4459-9F0C-11E93244A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000375"/>
            <a:ext cx="4724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ตรวจชื่อบัญชีที่ใช้งานอยู่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362210-1217-4523-B958-1C2A1BA9D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7433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3E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8BF9F0-0365-4D61-A94A-2A40DADAF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667125"/>
            <a:ext cx="4724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เลือกออกจากระบบจากเมนูด้านซ้าย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0E533E-77AB-43B8-9888-7C065AFFB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4100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3E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3C3A42-E9B8-488F-B2D4-C948F2AB4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4333875"/>
            <a:ext cx="4724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defPPr>
            <a:lvl1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1pPr>
            <a:lvl2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2pPr>
            <a:lvl3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3pPr>
            <a:lvl4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4pPr>
            <a:lvl5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5pPr>
            <a:lvl6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6pPr>
            <a:lvl7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7pPr>
            <a:lvl8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8pPr>
            <a:lvl9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defRPr>
            </a:pPr>
            <a:r>
              <a:rPr sz="1575" b="0">
                <a:solidFill>
                  <a:srgbClr val="16332B"/>
                </a:solidFill>
                <a:latin typeface="Leelawadee UI"/>
                <a:ea typeface="Leelawadee UI"/>
                <a:cs typeface="Leelawadee UI"/>
              </a:rPr>
              <a:t>ปิดเบราว์เซอร์เมื่อใช้เครื่องสาธารณะ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5FB011-DACC-4C27-AFE0-C3241A2FB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714500"/>
            <a:ext cx="400050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102E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6175CB-4673-4A15-BB2C-02567CDF5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143125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rPr sz="18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ข้อควรระวังของผู้ดูแล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8192E6-A1F7-4687-835B-0F35132F3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857500"/>
            <a:ext cx="3048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725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725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725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725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725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725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725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725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725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725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725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pPr>
            <a:r>
              <a:rPr sz="1725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rPr>
              <a:t>การเปลี่ยนคีย์บริการ</a:t>
            </a:r>
          </a:p>
          <a:p xmlns:a="http://schemas.openxmlformats.org/drawingml/2006/main">
            <a:pPr algn="ctr">
              <a:buNone/>
              <a:defRPr sz="1725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pPr>
            <a:r>
              <a:rPr sz="1725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rPr>
              <a:t>ลิงก์สาธารณะ</a:t>
            </a:r>
          </a:p>
          <a:p xmlns:a="http://schemas.openxmlformats.org/drawingml/2006/main">
            <a:pPr algn="ctr">
              <a:buNone/>
              <a:defRPr sz="1725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pPr>
            <a:r>
              <a:rPr sz="1725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rPr>
              <a:t>ผู้ให้บริการ AI หรือเสียง</a:t>
            </a:r>
          </a:p>
          <a:p xmlns:a="http://schemas.openxmlformats.org/drawingml/2006/main">
            <a:pPr algn="ctr">
              <a:buNone/>
              <a:defRPr sz="1725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pPr>
            <a:r>
              <a:rPr sz="1725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rPr>
              <a:t>และการเผยแพร่อัตโนมัติ</a:t>
            </a:r>
          </a:p>
          <a:p xmlns:a="http://schemas.openxmlformats.org/drawingml/2006/main">
            <a:pPr algn="ctr">
              <a:buNone/>
              <a:defRPr sz="1725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defRPr>
            </a:pPr>
            <a:r>
              <a:rPr sz="1725" b="0">
                <a:solidFill>
                  <a:srgbClr val="BFD8C8"/>
                </a:solidFill>
                <a:latin typeface="Leelawadee UI"/>
                <a:ea typeface="Leelawadee UI"/>
                <a:cs typeface="Leelawadee UI"/>
              </a:rPr>
              <a:t>อาจกระทบหลายบัญชี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C2613F-33A1-4BE2-9C13-53A42AD80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572125"/>
            <a:ext cx="647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defPPr>
            <a:lvl1pPr algn="ctr">
              <a:buNone/>
              <a:defRPr sz="14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1pPr>
            <a:lvl2pPr algn="ctr">
              <a:buNone/>
              <a:defRPr sz="14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2pPr>
            <a:lvl3pPr algn="ctr">
              <a:buNone/>
              <a:defRPr sz="14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3pPr>
            <a:lvl4pPr algn="ctr">
              <a:buNone/>
              <a:defRPr sz="14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4pPr>
            <a:lvl5pPr algn="ctr">
              <a:buNone/>
              <a:defRPr sz="14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5pPr>
            <a:lvl6pPr algn="ctr">
              <a:buNone/>
              <a:defRPr sz="14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6pPr>
            <a:lvl7pPr algn="ctr">
              <a:buNone/>
              <a:defRPr sz="14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7pPr>
            <a:lvl8pPr algn="ctr">
              <a:buNone/>
              <a:defRPr sz="14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8pPr>
            <a:lvl9pPr algn="ctr">
              <a:buNone/>
              <a:defRPr sz="14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lvl9pPr>
          </a:lstStyle>
          <a:p xmlns:a="http://schemas.openxmlformats.org/drawingml/2006/main">
            <a:pPr algn="ctr">
              <a:buNone/>
              <a:defRPr sz="14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defRPr>
            </a:pPr>
            <a:r>
              <a:rPr sz="1425" b="1">
                <a:solidFill>
                  <a:srgbClr val="C73E3A"/>
                </a:solidFill>
                <a:latin typeface="Leelawadee UI"/>
                <a:ea typeface="Leelawadee UI"/>
                <a:cs typeface="Leelawadee UI"/>
              </a:rPr>
              <a:t>ควรทดสอบบริการที่เกี่ยวข้องหลังบันทึกการตั้งค่า</a:t>
            </a:r>
          </a:p>
        </p:txBody>
      </p:sp>
    </p:spTree>
    <p:extLst>
      <p:ext uri="{BB962C8B-B14F-4D97-AF65-F5344CB8AC3E}">
        <p14:creationId xmlns:p14="http://schemas.microsoft.com/office/powerpoint/2010/main" val="8348032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2026-10-28T23:38:48.0130000Z</dcterms:created>
  <dcterms:modified xsi:type="dcterms:W3CDTF">2026-10-28T23:38:48.0130000Z</dcterms:modified>
</coreProperties>
</file>