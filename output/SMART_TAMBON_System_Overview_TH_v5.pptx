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927b7ecf594905" /><Relationship Type="http://schemas.openxmlformats.org/officeDocument/2006/relationships/extended-properties" Target="/docProps/app.xml" Id="Rd29e3d9a06f84c4b" /><Relationship Type="http://schemas.openxmlformats.org/officeDocument/2006/relationships/officeDocument" Target="/ppt/presentation.xml" Id="R183c4a64533243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e6004767144cac"/>
  </p:sldMasterIdLst>
  <p:notesMasterIdLst>
    <p:notesMasterId xmlns:r="http://schemas.openxmlformats.org/officeDocument/2006/relationships" r:id="R6292d3c4bc3044bc"/>
  </p:notesMasterIdLst>
  <p:sldIdLst>
    <p:sldId xmlns:r="http://schemas.openxmlformats.org/officeDocument/2006/relationships" id="256" r:id="R84df441c59c84962"/>
    <p:sldId xmlns:r="http://schemas.openxmlformats.org/officeDocument/2006/relationships" id="257" r:id="R627d548a8c5a4ba2"/>
    <p:sldId xmlns:r="http://schemas.openxmlformats.org/officeDocument/2006/relationships" id="258" r:id="Rab73ff3f92464cf5"/>
    <p:sldId xmlns:r="http://schemas.openxmlformats.org/officeDocument/2006/relationships" id="259" r:id="R3c3f8cb9efd644fd"/>
    <p:sldId xmlns:r="http://schemas.openxmlformats.org/officeDocument/2006/relationships" id="260" r:id="R71ad90fd02964e63"/>
    <p:sldId xmlns:r="http://schemas.openxmlformats.org/officeDocument/2006/relationships" id="261" r:id="Rb408b8a4ec0b4308"/>
    <p:sldId xmlns:r="http://schemas.openxmlformats.org/officeDocument/2006/relationships" id="262" r:id="R928450bfe60c4980"/>
    <p:sldId xmlns:r="http://schemas.openxmlformats.org/officeDocument/2006/relationships" id="263" r:id="R7ca6392d0e5045f4"/>
    <p:sldId xmlns:r="http://schemas.openxmlformats.org/officeDocument/2006/relationships" id="264" r:id="Ra12c7f01508e4b98"/>
    <p:sldId xmlns:r="http://schemas.openxmlformats.org/officeDocument/2006/relationships" id="265" r:id="Raaae5adc9ab74ecf"/>
    <p:sldId xmlns:r="http://schemas.openxmlformats.org/officeDocument/2006/relationships" id="266" r:id="Rf626eb82d8ab4e3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7670b43b52469b" /><Relationship Type="http://schemas.openxmlformats.org/officeDocument/2006/relationships/slideMaster" Target="/ppt/slideMasters/slideMaster1.xml" Id="R79e6004767144cac" /><Relationship Type="http://schemas.openxmlformats.org/officeDocument/2006/relationships/notesMaster" Target="/ppt/notesMasters/notesMaster1.xml" Id="R6292d3c4bc3044bc" /><Relationship Type="http://schemas.openxmlformats.org/officeDocument/2006/relationships/presProps" Target="/ppt/presProps.xml" Id="Rbf478049d80c4fc2" /><Relationship Type="http://schemas.openxmlformats.org/officeDocument/2006/relationships/tableStyles" Target="/ppt/tableStyles.xml" Id="R6eaae6257acf4821" /><Relationship Type="http://schemas.openxmlformats.org/officeDocument/2006/relationships/slide" Target="/ppt/slides/slide1.xml" Id="R84df441c59c84962" /><Relationship Type="http://schemas.openxmlformats.org/officeDocument/2006/relationships/slide" Target="/ppt/slides/slide2.xml" Id="R627d548a8c5a4ba2" /><Relationship Type="http://schemas.openxmlformats.org/officeDocument/2006/relationships/slide" Target="/ppt/slides/slide3.xml" Id="Rab73ff3f92464cf5" /><Relationship Type="http://schemas.openxmlformats.org/officeDocument/2006/relationships/slide" Target="/ppt/slides/slide4.xml" Id="R3c3f8cb9efd644fd" /><Relationship Type="http://schemas.openxmlformats.org/officeDocument/2006/relationships/slide" Target="/ppt/slides/slide5.xml" Id="R71ad90fd02964e63" /><Relationship Type="http://schemas.openxmlformats.org/officeDocument/2006/relationships/slide" Target="/ppt/slides/slide6.xml" Id="Rb408b8a4ec0b4308" /><Relationship Type="http://schemas.openxmlformats.org/officeDocument/2006/relationships/slide" Target="/ppt/slides/slide7.xml" Id="R928450bfe60c4980" /><Relationship Type="http://schemas.openxmlformats.org/officeDocument/2006/relationships/slide" Target="/ppt/slides/slide8.xml" Id="R7ca6392d0e5045f4" /><Relationship Type="http://schemas.openxmlformats.org/officeDocument/2006/relationships/slide" Target="/ppt/slides/slide9.xml" Id="Ra12c7f01508e4b98" /><Relationship Type="http://schemas.openxmlformats.org/officeDocument/2006/relationships/slide" Target="/ppt/slides/slide10.xml" Id="Raaae5adc9ab74ecf" /><Relationship Type="http://schemas.openxmlformats.org/officeDocument/2006/relationships/slide" Target="/ppt/slides/slide11.xml" Id="Rf626eb82d8ab4e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95492640b943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e515e70ee84629" /><Relationship Type="http://schemas.openxmlformats.org/officeDocument/2006/relationships/notesMaster" Target="/ppt/notesMasters/notesMaster1.xml" Id="R745e24fb50e54a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49490867694788" /><Relationship Type="http://schemas.openxmlformats.org/officeDocument/2006/relationships/notesMaster" Target="/ppt/notesMasters/notesMaster1.xml" Id="R69b8a3da5bae45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0be214bad7942e6" /><Relationship Type="http://schemas.openxmlformats.org/officeDocument/2006/relationships/notesMaster" Target="/ppt/notesMasters/notesMaster1.xml" Id="R936eacb2a7d448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1260fb7d09044c1" /><Relationship Type="http://schemas.openxmlformats.org/officeDocument/2006/relationships/notesMaster" Target="/ppt/notesMasters/notesMaster1.xml" Id="Rd47bddc9830a445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bb47fcbbc1e4fb2" /><Relationship Type="http://schemas.openxmlformats.org/officeDocument/2006/relationships/notesMaster" Target="/ppt/notesMasters/notesMaster1.xml" Id="Rdf8231efcd7948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7f6a5d9a73544ba" /><Relationship Type="http://schemas.openxmlformats.org/officeDocument/2006/relationships/notesMaster" Target="/ppt/notesMasters/notesMaster1.xml" Id="Rb6b98b62a27041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50503caf98a4863" /><Relationship Type="http://schemas.openxmlformats.org/officeDocument/2006/relationships/notesMaster" Target="/ppt/notesMasters/notesMaster1.xml" Id="R999873018013422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fdadf3b33154ffd" /><Relationship Type="http://schemas.openxmlformats.org/officeDocument/2006/relationships/notesMaster" Target="/ppt/notesMasters/notesMaster1.xml" Id="Rd0f6e38b3c17403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2d0e01e140140c8" /><Relationship Type="http://schemas.openxmlformats.org/officeDocument/2006/relationships/notesMaster" Target="/ppt/notesMasters/notesMaster1.xml" Id="Rd6f1c3c0a69b453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7b0d2a43aea4bf6" /><Relationship Type="http://schemas.openxmlformats.org/officeDocument/2006/relationships/notesMaster" Target="/ppt/notesMasters/notesMaster1.xml" Id="Ra492b30d0d2849a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ab41c25e10c4d76" /><Relationship Type="http://schemas.openxmlformats.org/officeDocument/2006/relationships/notesMaster" Target="/ppt/notesMasters/notesMaster1.xml" Id="R1428bec51ebb44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หน้าปกสรุปวัตถุประสงค์ของระบบจากคู่มือและโครงสร้างระบบจริง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สังเคราะห์จากบทนำ หน้าภาพรวมเมือง หน้าแผนที่เมือง และหน้าเหตุการณ์ทั่วไป</a:t>
            </a:r>
          </a:p>
          <a:p xmlns:a="http://schemas.openxmlformats.org/drawingml/2006/main">
            <a:br/>
            <a:r>
              <a:t>ภาพหน้าจอ: F:\ESM_doc\SmartCity\Smart Tambon\Screenshot\1_ภาพรวมเมือง\1_ภาพรวม.JPG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ตรวจสอบจาก README, models, routes และบริการเชิงพื้นที่ของโปรเจกต์</a:t>
            </a:r>
          </a:p>
          <a:p xmlns:a="http://schemas.openxmlformats.org/drawingml/2006/main">
            <a:br/>
            <a:r>
              <a:t>ภาพหน้าจอ: F:\ESM_doc\SmartCity\Smart Tambon\Screenshot\2_แผนที่เมือง\1_แผนที่เมือง.JPG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อ้างอิงคู่มือหน้าจัดการผู้ใช้ และตรวจสอบ enum role กับ accessible_subdistrict_ids ใน app/models/user.rb</a:t>
            </a:r>
          </a:p>
          <a:p xmlns:a="http://schemas.openxmlformats.org/drawingml/2006/main">
            <a:br/>
            <a:r>
              <a:t>ภาพหน้าจอ: F:\ESM_doc\SmartCity\Smart Tambon\Screenshot\13_จัดการผู้ใช้\1_จัดการผู้ใช้.JPG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สังเคราะห์จากหน้าเหตุการณ์ นำเข้าข้อมูล การตั้งค่าแจ้งเตือน และ routes สำหรับ webhook/SMS</a:t>
            </a:r>
          </a:p>
          <a:p xmlns:a="http://schemas.openxmlformats.org/drawingml/2006/main">
            <a:br/>
            <a:r>
              <a:t>ภาพหน้าจอ: F:\ESM_doc\SmartCity\Smart Tambon\Screenshot\10_นำเข้าข้อมูล\3_จับคู่ข้อมูล.JPG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สรุปหน้าหลักทั้งหมดในคู่มือและยืนยันจาก routes/controllers ของระบบ</a:t>
            </a:r>
          </a:p>
          <a:p xmlns:a="http://schemas.openxmlformats.org/drawingml/2006/main">
            <a:br/>
            <a:r>
              <a:t>ภาพหน้าจอ: F:\ESM_doc\SmartCity\Smart Tambon\Screenshot\6_กิจกรรม\1_กิจกรรมในพื้นที่.JPG</a:t>
            </a:r>
          </a:p>
          <a:p xmlns:a="http://schemas.openxmlformats.org/drawingml/2006/main">
            <a:br/>
            <a:r>
              <a:t>ภาพหน้าจอ: F:\ESM_doc\SmartCity\Smart Tambon\Screenshot\7_ข่าว\1_ข่าวประชาสัมพันธ์.JPG</a:t>
            </a:r>
          </a:p>
          <a:p xmlns:a="http://schemas.openxmlformats.org/drawingml/2006/main">
            <a:br/>
            <a:r>
              <a:t>ภาพหน้าจอ: F:\ESM_doc\SmartCity\Smart Tambon\Screenshot\8_กล้องวงจรปิด\1_กล้องวงจรปิด.JPG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อ้างอิงหน้าเหตุการณ์ทั่วไป หน้าภัยพิบัติ และ routes acknowledge/promote/assessment/progress</a:t>
            </a:r>
          </a:p>
          <a:p xmlns:a="http://schemas.openxmlformats.org/drawingml/2006/main">
            <a:br/>
            <a:r>
              <a:t>ภาพหน้าจอ: F:\ESM_doc\SmartCity\Smart Tambon\Screenshot\3_เหตุการณ์ทั่วไป\1_เหตุการทั่วไป-รอรับเรื่อง.JPG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อ้างอิงหน้าภัยพิบัติ หน้าประเมินสถานการณ์ แผนรับมือ และกฎการประเมินทรัพยากร</a:t>
            </a:r>
          </a:p>
          <a:p xmlns:a="http://schemas.openxmlformats.org/drawingml/2006/main">
            <a:br/>
            <a:r>
              <a:t>ภาพหน้าจอ: F:\ESM_doc\SmartCity\Smart Tambon\Screenshot\4_ภัยพิบัติ\3_ประเมินสถานการณ์.JPG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ตรวจสอบจาก README, API controllers, access filters, AI services และ models</a:t>
            </a:r>
          </a:p>
          <a:p xmlns:a="http://schemas.openxmlformats.org/drawingml/2006/main">
            <a:br/>
            <a:r>
              <a:t>ภาพหน้าจอ: F:\ESM_doc\SmartCity\Smart Tambon\Screenshot\11_ผู้ช่วย AI\1_ผู้ช่วย AI.JPG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ประโยชน์สรุปจาก workflow ที่ระบบรองรับ ไม่มีการอ้างตัวเลขผลลัพธ์ที่ไม่ได้รับหลักฐาน</a:t>
            </a:r>
          </a:p>
          <a:p xmlns:a="http://schemas.openxmlformats.org/drawingml/2006/main">
            <a:br/>
            <a:r>
              <a:t>ภาพหน้าจอ: F:\ESM_doc\SmartCity\Smart Tambon\Screenshot\9_โครงการ\1_โครงการ.JPG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ตัวอย่างประกอบจากความสามารถที่มีจริงใน public incident report, incidents, assessment, resource rules และ notifications</a:t>
            </a:r>
          </a:p>
          <a:p xmlns:a="http://schemas.openxmlformats.org/drawingml/2006/main">
            <a:br/>
            <a:r>
              <a:t>ภาพหน้าจอ: F:\ESM_doc\SmartCity\Smart Tambon\Screenshot\3_เหตุการณ์ทั่วไป\11_แบบฟอร์มประชาชนกรอก.JPG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4ca272fbaf4ba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98ea7d7728458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256d66f57845e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e0f56cade34dc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d240b53dd349d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c889e0c77f41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E7883ED-BAE4-4086-8E34-5371BE9E37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61BC6C8-AF94-43ED-AA82-EE2629B61B0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7F373F5-523B-45DD-9F1C-60F2D1F6BE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B47577E-1197-404B-9B18-8B7A310A44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84DF026-A194-498A-BC7D-C5E17E27FF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EB209FA-848F-44E3-8C32-A0A235ECDF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C354376-2EDD-403C-9A89-409DD5257F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6ADF9E5-C90C-42BE-A547-92DD61AE6F8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F160B4-71DC-4ADD-ADC6-D9CC473A0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6B56C5C-1CD5-4C8B-84B1-3C6C829E1F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d972e4942a4923" /><Relationship Type="http://schemas.openxmlformats.org/officeDocument/2006/relationships/slideLayout" Target="/ppt/slideLayouts/slideLayout1.xml" Id="Rd979d315101c4ae6" /><Relationship Type="http://schemas.openxmlformats.org/officeDocument/2006/relationships/slideLayout" Target="/ppt/slideLayouts/slideLayout2.xml" Id="R8ed1054aa9d54da5" /><Relationship Type="http://schemas.openxmlformats.org/officeDocument/2006/relationships/slideLayout" Target="/ppt/slideLayouts/slideLayout3.xml" Id="R62d6b0e1abeb4682" /><Relationship Type="http://schemas.openxmlformats.org/officeDocument/2006/relationships/slideLayout" Target="/ppt/slideLayouts/slideLayout4.xml" Id="R42a63c1872cb42d5" /><Relationship Type="http://schemas.openxmlformats.org/officeDocument/2006/relationships/slideLayout" Target="/ppt/slideLayouts/slideLayout5.xml" Id="Rb32fbab06342469c" /><Relationship Type="http://schemas.openxmlformats.org/officeDocument/2006/relationships/slideLayout" Target="/ppt/slideLayouts/slideLayout6.xml" Id="R9012ad05d6ed4c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79d315101c4ae6"/>
    <p:sldLayoutId xmlns:r="http://schemas.openxmlformats.org/officeDocument/2006/relationships" id="2147483650" r:id="R8ed1054aa9d54da5"/>
    <p:sldLayoutId xmlns:r="http://schemas.openxmlformats.org/officeDocument/2006/relationships" id="2147483651" r:id="R62d6b0e1abeb4682"/>
    <p:sldLayoutId xmlns:r="http://schemas.openxmlformats.org/officeDocument/2006/relationships" id="2147483652" r:id="R42a63c1872cb42d5"/>
    <p:sldLayoutId xmlns:r="http://schemas.openxmlformats.org/officeDocument/2006/relationships" id="2147483653" r:id="Rb32fbab06342469c"/>
    <p:sldLayoutId xmlns:r="http://schemas.openxmlformats.org/officeDocument/2006/relationships" id="2147483654" r:id="R9012ad05d6ed4c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5f3d5fd28b4a38" /><Relationship Type="http://schemas.openxmlformats.org/officeDocument/2006/relationships/image" Target="/ppt/media/image.png" Id="R3f584423b32f4762" /><Relationship Type="http://schemas.openxmlformats.org/officeDocument/2006/relationships/notesSlide" Target="/ppt/notesSlides/notesSlide1.xml" Id="Rb64bd19dc89141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c562567b1a4bb7" /><Relationship Type="http://schemas.openxmlformats.org/officeDocument/2006/relationships/image" Target="/ppt/media/image.jpeg" Id="R4b11176c9cfb433d" /><Relationship Type="http://schemas.openxmlformats.org/officeDocument/2006/relationships/notesSlide" Target="/ppt/notesSlides/notesSlide2.xml" Id="R1188b635d7f940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a6a35e0f444e0a" /><Relationship Type="http://schemas.openxmlformats.org/officeDocument/2006/relationships/image" Target="/ppt/media/image2.jpeg" Id="R9a5e2e66a03741e3" /><Relationship Type="http://schemas.openxmlformats.org/officeDocument/2006/relationships/notesSlide" Target="/ppt/notesSlides/notesSlide3.xml" Id="R90567958e19a4d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4e3c3043c8417d" /><Relationship Type="http://schemas.openxmlformats.org/officeDocument/2006/relationships/image" Target="/ppt/media/image3.jpeg" Id="R301af7c312b64e9d" /><Relationship Type="http://schemas.openxmlformats.org/officeDocument/2006/relationships/notesSlide" Target="/ppt/notesSlides/notesSlide4.xml" Id="Rb280515e46f247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56d3d09a5c4edb" /><Relationship Type="http://schemas.openxmlformats.org/officeDocument/2006/relationships/image" Target="/ppt/media/image4.jpeg" Id="R6d1e752c645e458a" /><Relationship Type="http://schemas.openxmlformats.org/officeDocument/2006/relationships/notesSlide" Target="/ppt/notesSlides/notesSlide5.xml" Id="R09779b7c2f6c45e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9a651438ed4b3e" /><Relationship Type="http://schemas.openxmlformats.org/officeDocument/2006/relationships/image" Target="/ppt/media/image5.jpeg" Id="R87c542309ca64cad" /><Relationship Type="http://schemas.openxmlformats.org/officeDocument/2006/relationships/image" Target="/ppt/media/image6.jpeg" Id="R08ee33298c484a53" /><Relationship Type="http://schemas.openxmlformats.org/officeDocument/2006/relationships/image" Target="/ppt/media/image7.jpeg" Id="Rc23da86208e74b8a" /><Relationship Type="http://schemas.openxmlformats.org/officeDocument/2006/relationships/notesSlide" Target="/ppt/notesSlides/notesSlide6.xml" Id="R58883e2680e1474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b1a3e5c6a74f6a" /><Relationship Type="http://schemas.openxmlformats.org/officeDocument/2006/relationships/image" Target="/ppt/media/image8.jpeg" Id="R18ec3ee939ef4e2e" /><Relationship Type="http://schemas.openxmlformats.org/officeDocument/2006/relationships/notesSlide" Target="/ppt/notesSlides/notesSlide7.xml" Id="Ra06aef03e74f44b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f01ed034214775" /><Relationship Type="http://schemas.openxmlformats.org/officeDocument/2006/relationships/image" Target="/ppt/media/image9.jpeg" Id="Rda9cda00b44d4eb3" /><Relationship Type="http://schemas.openxmlformats.org/officeDocument/2006/relationships/notesSlide" Target="/ppt/notesSlides/notesSlide8.xml" Id="R7a5a5893e597416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82f892fe604b70" /><Relationship Type="http://schemas.openxmlformats.org/officeDocument/2006/relationships/image" Target="/ppt/media/image10.jpeg" Id="Re15e6c4ca250422b" /><Relationship Type="http://schemas.openxmlformats.org/officeDocument/2006/relationships/notesSlide" Target="/ppt/notesSlides/notesSlide9.xml" Id="R50f1b2d15b504f7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88fc92f7034e91" /><Relationship Type="http://schemas.openxmlformats.org/officeDocument/2006/relationships/image" Target="/ppt/media/image11.jpeg" Id="Rf0fc0f68f29f4cb8" /><Relationship Type="http://schemas.openxmlformats.org/officeDocument/2006/relationships/notesSlide" Target="/ppt/notesSlides/notesSlide10.xml" Id="Rbf5e186bd0be447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4baf97a2864710" /><Relationship Type="http://schemas.openxmlformats.org/officeDocument/2006/relationships/image" Target="/ppt/media/image12.jpeg" Id="R72e0d1e73a3945c2" /><Relationship Type="http://schemas.openxmlformats.org/officeDocument/2006/relationships/notesSlide" Target="/ppt/notesSlides/notesSlide11.xml" Id="R15f0f8f764d248c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E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023390-ECAC-46CA-A9B0-4CDA253386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584423b32f4762"/>
          <a:stretch xmlns:a="http://schemas.openxmlformats.org/drawingml/2006/main"/>
        </p:blipFill>
        <p:spPr>
          <a:xfrm xmlns:a="http://schemas.openxmlformats.org/drawingml/2006/main">
            <a:off x="1478669" y="514350"/>
            <a:ext cx="1271762" cy="781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B682B0-9E3D-49C4-BC71-DA1EC1410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SMART TAMBON</a:t>
            </a:r>
          </a:p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SAFETY THAILAND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A725C8-A912-456A-BC85-D04818B9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685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rPr>
              <a:t>ระบบบริหารจัดการความปลอดภัยอัจฉริยะสำหรับองค์กรปกครองส่วนท้องถิ่น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79A486-83F9-4A73-BB3E-572DDF0A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C33868-B205-4E50-9469-8615C417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95500"/>
            <a:ext cx="2571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ข้อมูลพื้นที่</a:t>
            </a:r>
          </a:p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สถานการณ์</a:t>
            </a:r>
          </a:p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การตัดสินใจ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90EFDB-2EFB-47E7-BD91-852D9D08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2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2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2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2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2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2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2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2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2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ภาพรวมระบบ</a:t>
            </a:r>
          </a:p>
        </p:txBody>
      </p:sp>
    </p:spTree>
    <p:extLst>
      <p:ext uri="{BB962C8B-B14F-4D97-AF65-F5344CB8AC3E}">
        <p14:creationId xmlns:p14="http://schemas.microsoft.com/office/powerpoint/2010/main" val="14660457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C117A9-A546-4E89-8AFD-A3B355DF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บริบท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69E7E5-7AEB-40D3-A178-477A0947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โจทย์ของการบริหารความปลอดภัยระดับตำบล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54964F-C7B5-4A8A-B20B-80BB2C8C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09847B-8558-433E-BEA6-9A258C3E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ภาพรวมระบบ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ADCC7A-FC1A-4727-A38D-939A69F0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9BB71B-7390-474E-9A2E-0B9E54B9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782"/>
          </a:bodyPr>
          <a:lstStyle xmlns:a="http://schemas.openxmlformats.org/drawingml/2006/main">
            <a:defPPr algn="l">
              <a:defRPr sz="21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1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1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1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1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1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1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1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1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1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1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ข้อมูลกระจายหลายแหล่ง ทำให้การเห็นภาพรวมและสั่งการใช้เวลานาน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23A55E-B378-498C-952C-7D11C572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B91CEB-1DFD-4F53-A368-D5DE9C2E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5962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เหตุแจ้งเข้ามาหลายช่องทางและมีระดับความเร่งด่วนต่างกัน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45736B-4FEB-4DE6-917F-3AF41C5D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528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88EAC9-2449-46FB-9D56-4F42056E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76600"/>
            <a:ext cx="5962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แผนที่ สภาพอากาศ เซนเซอร์ ทีม และทรัพยากรอยู่คนละระบบ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7F0A2B-FFDE-460A-8701-9360960D2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576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3D65FA-2921-4A1A-A61B-1934AD66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5962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การติดตามสถานะและการสื่อสารกับประชาชนต้องอาศัยข้อมูลล่าสุด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CBE543-6442-4FF6-BEF2-85FF5F71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14500"/>
            <a:ext cx="3524250" cy="37147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899629-A99B-4BF1-84BE-100D0994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764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เป้าหมาย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34C46A-9851-41FF-B821-47D3F2D6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2952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รวมข้อมูลที่จำเป็น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ให้เจ้าหน้าที่เห็นสถานการณ์เดียวกัน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และทำงานต่อเนื่องจากรับแจ้งถึงปิดเหตุ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CFFDF8-7232-4123-8727-63E6CAECB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524000"/>
            <a:ext cx="42862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D9487F-278D-44AD-8104-655EEC28C7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11176c9cfb433d"/>
          <a:srcRect xmlns:a="http://schemas.openxmlformats.org/drawingml/2006/main" l="8008" t="0" r="80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91375" y="1619250"/>
            <a:ext cx="4095750" cy="26670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DDB17C-2126-4614-ADE0-C4BFC308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624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D6C7D9-4A56-4A24-A223-6B6F5813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990975"/>
            <a:ext cx="3867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ภาพรวมเมืองและสถานการณ์ล่าสุด</a:t>
            </a:r>
          </a:p>
        </p:txBody>
      </p:sp>
    </p:spTree>
    <p:extLst>
      <p:ext uri="{BB962C8B-B14F-4D97-AF65-F5344CB8AC3E}">
        <p14:creationId xmlns:p14="http://schemas.microsoft.com/office/powerpoint/2010/main" val="1374381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029A92-3D55-4C41-8431-16E3D873A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ระบบคืออะไร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FDEE96-17C1-4724-9956-D2D4E024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SMART TAMBON คือศูนย์กลางการทำงานของพื้นที่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42E26A-817F-4325-82E7-9EE83802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467254-2BEB-4442-890F-DD9ACC3D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ภาพรวมระบบ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D750B7-8E09-421D-B67B-6BBDF5A4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A3048C-FE20-4C8B-9A6F-A4DDBF09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ระบบเชื่อมข้อมูลเชิงพื้นที่ สถานการณ์ และการปฏิบัติงานไว้ในเว็บเดียว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31CA29-6D50-47B4-808F-3A806114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2971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2C6E8C-F670-470D-A67D-BC78606E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547938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74EA67-F678-4909-A67D-D2063CE58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05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462111-8A22-4491-BE78-592AC929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86050"/>
            <a:ext cx="19573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เห็นพื้นที่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020B38-B314-45A7-A60B-37742547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22812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ขอบเขต แผนที่ และสถานที่สำคัญ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CD4A45-7191-4CB0-B19D-299A1279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971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332092-E014-407C-9BDC-614D4B6B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288" y="2571750"/>
            <a:ext cx="2547938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768BEA-4A7A-4A6D-ADCD-7DB0ECB6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705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6B95D2-DB3E-4ADB-9734-D9F426C7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9538" y="2686050"/>
            <a:ext cx="19573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เห็นเหตุ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491696-8902-455B-B004-495E76A0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3028950"/>
            <a:ext cx="22812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เหตุทั่วไป ภัยพิบัติ และกิจกรรม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70062A-423E-44E9-A740-79B67D35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2971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DC7F34-74A8-4E00-AD23-D15C3627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571750"/>
            <a:ext cx="2547938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527240-E44D-4781-83AE-E63703A9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05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49D254-93E6-4843-A5F6-040591CA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686050"/>
            <a:ext cx="19573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วางแผน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306FD0-6EC8-4233-BCFB-935004FF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28950"/>
            <a:ext cx="22812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ประเมินผลกระทบ ทีม และทรัพยากร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BF4217-C5F3-428E-AFEC-9B180144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8263" y="2571750"/>
            <a:ext cx="2547938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C58168-7BD9-484E-9F7E-E6982606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705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73C79A-438D-4F45-9E21-9C45CCE4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4513" y="2686050"/>
            <a:ext cx="19573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ติดตามผล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2CBFBB-8443-44FF-B9F6-899C3A2F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3028950"/>
            <a:ext cx="22812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สถานะ ความคืบหน้า และการสื่อสาร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475F92-A9E0-4C82-9A8F-F3DB62BD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24375"/>
            <a:ext cx="990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รองรับข้อมูลทั้ง PostgreSQL/PostGIS สำหรับขอบเขตเชิงพื้นที่ และ Mongoid สำหรับข้อมูลที่ยืดหยุ่นตามประเภทงาน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63801E-74FD-4578-9D3A-1F9F74CE4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38375"/>
            <a:ext cx="5143500" cy="3190875"/>
          </a:xfrm>
          <a:prstGeom xmlns:a="http://schemas.openxmlformats.org/drawingml/2006/main" prst="roundRect">
            <a:avLst>
              <a:gd name="adj" fmla="val 3582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4C6104-4380-4568-A49D-6EB2236168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5e2e66a03741e3"/>
          <a:srcRect xmlns:a="http://schemas.openxmlformats.org/drawingml/2006/main" l="110" t="0" r="1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29375" y="2333625"/>
            <a:ext cx="4953000" cy="2714625"/>
          </a:xfrm>
          <a:prstGeom xmlns:a="http://schemas.openxmlformats.org/drawingml/2006/main" prst="roundRect">
            <a:avLst>
              <a:gd name="adj" fmla="val 2807"/>
            </a:avLst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713961-A3A9-4E82-8562-8F18E0FB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7244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207F9E-D132-4906-9DC5-8C8FD0BB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752975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>
            <a:def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แผนที่เมืองและชั้นข้อมูล</a:t>
            </a:r>
          </a:p>
        </p:txBody>
      </p:sp>
    </p:spTree>
    <p:extLst>
      <p:ext uri="{BB962C8B-B14F-4D97-AF65-F5344CB8AC3E}">
        <p14:creationId xmlns:p14="http://schemas.microsoft.com/office/powerpoint/2010/main" val="5808703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08A3C8-C22E-407B-9FC3-7A65328B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กลุ่มผู้ใช้งาน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3D2D5D-B03C-4001-8C30-7618734F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ผู้ใช้งานและขอบเขตสิทธิ์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A71CF3-BE5C-44C4-97B2-F1D6FD35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3F7C2A-E70A-47A9-A071-8E8EDDCA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ภาพรวมระบบ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BCBF0B-5EDA-441F-AE94-345EA251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3D2D27-6C1E-4DC6-9402-80009F0B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564F32-BCBF-4D52-8F74-0A4C12E9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573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ผู้ดูแลระบบส่วนกลาง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BDFAE1-2931-42BC-87AB-681E21A7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33600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ดูแลหลายหน่วยงาน ตั้งค่าระบบ และตรวจสถานะบริการ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651DED-499C-4E33-9342-AC7F9B72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813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543C7D-9765-4926-A9A8-CC55E9F6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384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BD8FC5-3D4C-4E33-AF82-F0472260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38475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ผู้ดูแลประจำ อบต.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0AD37B-FDAE-40D9-B27C-0B0109ED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147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จัดการผู้ใช้ ข้อมูลหน่วยงาน ช่องทางแจ้งเตือน และพื้นที่ของตน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480471-9BA4-4DE6-B490-60A9130D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62425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CF7A21-A5E8-492E-8DEE-758BD7C6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2DF632-FD3F-4253-9751-30BFBF30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196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เจ้าหน้าที่ประจำ อบต.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22C0DD-E1DB-4CEA-86E2-5CD51269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95850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รับแจ้งเหตุ อัปเดตงาน วิเคราะห์ข้อมูล และใช้เครื่องมือตามสิทธิ์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14CE55-502B-42B0-96DA-0FA6B492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4355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CBFA31-3EA6-4ACC-852B-AC191077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6388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333"/>
          </a:bodyPr>
          <a:lstStyle xmlns:a="http://schemas.openxmlformats.org/drawingml/2006/main">
            <a:defPPr algn="r"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ทุกบัญชีทำงานตามบทบาทและขอบเขตพื้นที่ที่ได้รับอนุญาต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2B7F7B-2BB0-4969-9BB1-6A74E97E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76375"/>
            <a:ext cx="4953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AD472C-5179-478A-B895-0E51E79C7F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1af7c312b64e9d"/>
          <a:srcRect xmlns:a="http://schemas.openxmlformats.org/drawingml/2006/main" l="1172" t="0" r="117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1571625"/>
            <a:ext cx="4762500" cy="26670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9DC5B8-7421-41E7-8E2A-797E11F74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1477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C6E0BD-C2C9-49D0-8A37-B6B2701A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943350"/>
            <a:ext cx="453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จัดการบัญชีและขอบเขตพื้นที่</a:t>
            </a:r>
          </a:p>
        </p:txBody>
      </p:sp>
    </p:spTree>
    <p:extLst>
      <p:ext uri="{BB962C8B-B14F-4D97-AF65-F5344CB8AC3E}">
        <p14:creationId xmlns:p14="http://schemas.microsoft.com/office/powerpoint/2010/main" val="15867985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400F94-DC27-44EC-9520-93435027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ภาพรวมกระบวนการ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F1C607-0C7E-4346-9C45-069CB2EE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แนวคิดการทำงานจากข้อมูลสู่การปฏิบัติ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39CA57-3E3D-4737-BAE1-7C7AAEA0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7DB2B9-E5B4-4AC5-979C-5414A4BD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ภาพรวมระบบ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E7F959-749C-4EC7-BDF1-CC7A2551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6C34DD-C4FF-44C0-84B9-0396391A1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085" y="2495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23E490-F6FE-41FB-AF3E-59A0FBA7F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206121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E2A901-7CF1-4A4D-8F99-4CBEC6C8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228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FC9C2A-8DD8-4B24-B5F3-A363FF45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09800"/>
            <a:ext cx="14706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รับข้อมูล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2BBC7B-B471-42C8-9D77-0A42F716B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552700"/>
            <a:ext cx="179451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683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ประชาชน เจ้าหน้าที่ เซนเซอร์ และไฟล์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0ED998-E7AB-41F0-8759-0A99368E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5845" y="2495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A19CDC-50C7-4201-B4EA-2FEE50AF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4635" y="2095500"/>
            <a:ext cx="206121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2E0D41-3286-46CE-AEC2-7A483C20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985" y="2228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69D31E-477B-4974-A61B-0E6D785E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0885" y="2209800"/>
            <a:ext cx="14706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สร้างภาพรวม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883EDB-7A5E-472B-BA11-00852ACE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985" y="2552700"/>
            <a:ext cx="179451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283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แผนที่ สภาพอากาศ สถานะเหตุ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49098A-066C-4CB3-9845-80D698CC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6605" y="2495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AF7F14-B452-4A5C-9CCA-DDF05876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5395" y="2095500"/>
            <a:ext cx="206121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71A313-BADF-45D6-9B9F-B9AD9EE3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8745" y="2228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E3F918-85F3-40C6-97CD-316E9D12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1645" y="2209800"/>
            <a:ext cx="14706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ประเมิน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27BCF8-3D05-44B4-8B98-A3418738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8745" y="2552700"/>
            <a:ext cx="179451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937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พื้นที่กระทบ กำลัง และทรัพยากร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D2097B-2120-4A8B-A220-A2AD6CA5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7365" y="2495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DD9495-DCE0-4EAE-B7BC-3833EA37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6155" y="2095500"/>
            <a:ext cx="206121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C79C5F-AC1C-4E70-9BFE-7480848D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9505" y="2228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0DE243-527F-4437-9ACB-FDE200AE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2405" y="2209800"/>
            <a:ext cx="14706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ดำเนินงาน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D9A79C-85F7-4ED0-90C8-2E6EA050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9505" y="2552700"/>
            <a:ext cx="179451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863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มอบหมาย ติดตาม และบันทึกผล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1E5349-6922-4CE5-B863-10E95A95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6915" y="2095500"/>
            <a:ext cx="206121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D12CC8-DDED-47CC-9443-990C1F95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0265" y="2228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1EC5B2-6F03-417B-A2D6-92A8DFB9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3165" y="2209800"/>
            <a:ext cx="14706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สื่อสาร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BC2CFD-A289-47D5-AE64-53F7B528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0265" y="2552700"/>
            <a:ext cx="179451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53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LINE OA, SMS และข่าวประชาสัมพันธ์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3203C0-204F-4B2F-A422-39E25207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91000"/>
            <a:ext cx="971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ข้อมูลเดิมยังใช้ต่อได้ผ่านการนำเข้าและการจัดรุ่นข้อมูล ขณะที่ข้อมูลใหม่เชื่อมเข้าสู่ workflow เดียวกัน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A9B35F-5DF6-4E8A-B6E3-EEBFB9FB2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95625"/>
            <a:ext cx="11144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B0FB87-67C5-43EC-A818-2146E471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533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ข้อมูลเดิมเข้าสู่ระบบผ่านการตรวจสอบและจับคู่คอลัมน์ ก่อนเชื่อมกับ workflow เดียวกัน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5D17AD-65A0-43E6-99C6-BADF5213C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190875"/>
            <a:ext cx="4667250" cy="2905125"/>
          </a:xfrm>
          <a:prstGeom xmlns:a="http://schemas.openxmlformats.org/drawingml/2006/main" prst="roundRect">
            <a:avLst>
              <a:gd name="adj" fmla="val 3934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B3079A-E652-4A0B-939D-8DFCA298B6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1e752c645e458a"/>
          <a:srcRect xmlns:a="http://schemas.openxmlformats.org/drawingml/2006/main" l="0" t="19187" r="0" b="191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10375" y="3286125"/>
            <a:ext cx="4476750" cy="2428875"/>
          </a:xfrm>
          <a:prstGeom xmlns:a="http://schemas.openxmlformats.org/drawingml/2006/main" prst="roundRect">
            <a:avLst>
              <a:gd name="adj" fmla="val 3137"/>
            </a:avLst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D3F349F-7A25-44FF-83B6-75C5E59C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391150"/>
            <a:ext cx="447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61D669A-588D-4705-A1E4-5D97366C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5419725"/>
            <a:ext cx="424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ตรวจสอบและจับคู่ข้อมูลก่อนนำเข้า</a:t>
            </a:r>
          </a:p>
        </p:txBody>
      </p:sp>
    </p:spTree>
    <p:extLst>
      <p:ext uri="{BB962C8B-B14F-4D97-AF65-F5344CB8AC3E}">
        <p14:creationId xmlns:p14="http://schemas.microsoft.com/office/powerpoint/2010/main" val="1485462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A16986-D263-434F-8F95-F174EAB9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ภาพรวมฟีเจอร์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B7E658-D5A3-4580-A88F-4D34D8B8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ความสามารถหลักของระบบ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49BB17-F7DD-4292-A552-1D64164E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6A272D-7586-4F53-829B-FB774C3F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ภาพรวมระบบ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237005-20B3-441D-ACCD-E472E065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828B51-B2E7-429C-9902-A260B3840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เฝ้าระวัง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9FE15C-17D4-4712-A914-91E9FC54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810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ภาพรวมเมือง แผนที่ สภาพอากาศ PM2.5 น้ำ ฝน และจุดความร้อน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E2500D-8CAF-4EEA-9F31-84497641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8FCA24-DC9E-45BA-A2C9-509F7AB9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240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ตอบสนองเหตุ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334976-D535-4BA1-904F-0AA98B96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62150"/>
            <a:ext cx="4810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รับแจ้ง มอบหมาย ประเมิน ติดตามทรัพยากร และปิดงาน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3D50F1-D407-4DF4-91F9-C827DB5D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051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0E0E42-9C2E-4CBC-B106-6FFC6BF5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เตรียมพร้อม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203A2A-A7D2-4CEF-98F9-B1877C0F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38525"/>
            <a:ext cx="4810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แผนรับมือ กฎทรัพยากร ทีม วัสดุ และสถานที่สำคัญ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23623E-F3F7-4972-AC59-0CCDDC1C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81475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F11FFE-0B49-4C5A-B060-7585BED0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0037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บริหารพื้นที่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1F978F-D6C1-4614-A1A1-14512C85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38525"/>
            <a:ext cx="4810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กิจกรรม โครงการ CCTV ข้อมูลประชากร และชุดข้อมูลหน่วยงาน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52B101-0AAD-4629-8F07-00C61FA9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181475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1E1BE0-42C0-4F95-A115-45A25B40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สื่อสาร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FED066-54D2-46B6-AF95-2EBA7977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4810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แจ้งเตือน เทมเพลต SMS ข่าวประชาสัมพันธ์ เสียง และสื่อภาพ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1DF6C3-D62D-4ED0-8DAD-3C3FFD481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C6D0A4-6048-4DD4-A9C9-5C73F622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767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วิเคราะห์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942BD0-89C5-4F1D-8B78-2FE614A9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914900"/>
            <a:ext cx="4810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ผู้ช่วย AI รายงาน ตาราง ตัวชี้วัด กราฟ และบันทึกผลวิเคราะห์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273C0B-8C7B-4E64-88F0-C8A2971C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65785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CC89CF-0E94-47C4-8D89-380E0100A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10000"/>
            <a:ext cx="112395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46EDFE-CA09-462B-8AF2-CF62B3AC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3352800" cy="2085975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A20EA4-3A25-4492-A624-997FB3B7CD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c542309ca64cad"/>
          <a:srcRect xmlns:a="http://schemas.openxmlformats.org/drawingml/2006/main" l="0" t="252" r="0" b="2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4000500"/>
            <a:ext cx="3238500" cy="1762125"/>
          </a:xfrm>
          <a:prstGeom xmlns:a="http://schemas.openxmlformats.org/drawingml/2006/main" prst="roundRect">
            <a:avLst>
              <a:gd name="adj" fmla="val 4324"/>
            </a:avLst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ADB347-E136-4464-B6DE-78539808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816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กิจกรรมในพื้นที่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80A58D-365D-4FDA-A1BD-7B9B18D9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43350"/>
            <a:ext cx="3352800" cy="2085975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040196-7859-4F6A-8960-0D772E79A3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ee33298c484a53"/>
          <a:srcRect xmlns:a="http://schemas.openxmlformats.org/drawingml/2006/main" l="0" t="252" r="0" b="2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76750" y="4000500"/>
            <a:ext cx="3238500" cy="1762125"/>
          </a:xfrm>
          <a:prstGeom xmlns:a="http://schemas.openxmlformats.org/drawingml/2006/main" prst="roundRect">
            <a:avLst>
              <a:gd name="adj" fmla="val 4324"/>
            </a:avLst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CC56CC-CEB5-412B-BF95-852ED0BC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7816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ข่าวประชาสัมพันธ์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D1DD9E-8DC2-4A63-9E46-82E7D9C6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43350"/>
            <a:ext cx="3352800" cy="2085975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F0B749-9F11-464C-B838-B8871454D6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3da86208e74b8a"/>
          <a:srcRect xmlns:a="http://schemas.openxmlformats.org/drawingml/2006/main" l="0" t="252" r="0" b="2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86750" y="4000500"/>
            <a:ext cx="3238500" cy="1762125"/>
          </a:xfrm>
          <a:prstGeom xmlns:a="http://schemas.openxmlformats.org/drawingml/2006/main" prst="roundRect">
            <a:avLst>
              <a:gd name="adj" fmla="val 4324"/>
            </a:avLst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824987-2CCE-4920-B26B-3D22919E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7816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กล้องวงจรปิด</a:t>
            </a:r>
          </a:p>
        </p:txBody>
      </p:sp>
    </p:spTree>
    <p:extLst>
      <p:ext uri="{BB962C8B-B14F-4D97-AF65-F5344CB8AC3E}">
        <p14:creationId xmlns:p14="http://schemas.microsoft.com/office/powerpoint/2010/main" val="10974088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3E6B26-7D6B-46A7-96F5-C2565B12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การปฏิบัติงาน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F5A753-6A92-4EE8-B624-885E1076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วงจรการจัดการเหตุการณ์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1CC248-4DE9-478E-ACA2-E7656D7D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29E295-4293-493F-AD4C-D951EABB0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ภาพรวมระบบ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F099FD-BDC3-4D2F-9FF9-C1124480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A48DE9-1CE4-4AF6-90DD-FA9AE021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80" y="22574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4AED9D-98E1-4BD2-90FB-DFB551AA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57375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3005CF-AC61-414E-9CB9-BFF0FC0B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90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A77D9F-F074-4638-91D5-3FD7CCD97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71675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รับแจ้ง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634329-701B-42C3-9EE8-781639B0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14575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บันทึกเหตุและตำแหน่ง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98E5E9-0E0D-4731-AFF5-4CBB90EB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510" y="22574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DEB3BB-24D1-4671-8773-77C7BB9B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30" y="1857375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2DF03F-B76E-4F6A-B207-D127F4F0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1990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F894A5-988A-4CA4-B7D3-E6FC3EC9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880" y="1971675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ตรวจสอบ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257075-DF00-4443-A5DF-C8A2184A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2314575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ยืนยันข้อมูลและความเร่งด่วน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0F628E-3380-4D15-9D60-BA725C89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9940" y="22574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53AC86-E85F-4F44-A321-5ED997A8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1857375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82CF7F-30B1-4F6B-AE8B-07480992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1990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FACFFE-6095-4AF4-85E7-239C0FD7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8310" y="1971675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มอบหมาย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126D4E-A506-47FD-AC59-BD176ABA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2314575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กำหนดผู้รับผิดชอบ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2864B2-9C65-4FEE-BB75-8D315DF0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7370" y="22574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ADB430-E158-45A0-A387-028523A8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1857375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55271F-31C6-4275-9472-1F2EAE37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1990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33F63E-92EC-440B-AD66-61F48F8E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5740" y="1971675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ดำเนินงาน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67BA82-DBD8-488F-9DB5-14AF929A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2314575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163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บันทึกความคืบหน้าและการใช้ทรัพยากร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DEE8F2-34AA-4692-AB13-13AB5B1E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857375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8FCAFB-5BD8-4C1C-BECF-11A894C5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1990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55AE51-3CB0-477D-9B4C-4CEDC7CB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3170" y="1971675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ปิดเหตุ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1A019D-1DB4-4937-B93F-54241FF4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2314575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สรุปผลและเก็บประวัติ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E0E273-CD3A-451A-BAE2-AB904931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14750"/>
            <a:ext cx="8763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FDDC43-D023-4133-96A5-1C06551E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038600"/>
            <a:ext cx="7905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เหตุที่รุนแรงสามารถยกระดับเป็นภัยพิบัติ เพื่อประเมินพื้นที่กระทบและใช้แผนรับมืออย่างเป็นระบบ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F292AC-616F-410F-9858-9055E40A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10239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3A89BD-FA6A-472D-A4AB-0FCEEBFC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857625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เหตุที่รุนแรงยกระดับเป็นภัยพิบัติ</a:t>
            </a:r>
          </a:p>
          <a:p xmlns:a="http://schemas.openxmlformats.org/drawingml/2006/main">
            <a: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เพื่อประเมินพื้นที่และจัดสรรทรัพยากร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0680DB-4A93-411B-ACB8-4E674089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95625"/>
            <a:ext cx="53340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8D5800-B118-4356-AEFD-8086C50530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ec3ee939ef4e2e"/>
          <a:srcRect xmlns:a="http://schemas.openxmlformats.org/drawingml/2006/main" l="0" t="899" r="0" b="8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3190875"/>
            <a:ext cx="5143500" cy="2762250"/>
          </a:xfrm>
          <a:prstGeom xmlns:a="http://schemas.openxmlformats.org/drawingml/2006/main" prst="roundRect">
            <a:avLst>
              <a:gd name="adj" fmla="val 2759"/>
            </a:avLst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C6546D2-9AA1-4148-AC67-B987E146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29275"/>
            <a:ext cx="514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0CB56D1-CC8A-41D3-97FB-293D38A7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657850"/>
            <a:ext cx="491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รายการเหตุและรายละเอียดการรับเรื่อง</a:t>
            </a:r>
          </a:p>
        </p:txBody>
      </p:sp>
    </p:spTree>
    <p:extLst>
      <p:ext uri="{BB962C8B-B14F-4D97-AF65-F5344CB8AC3E}">
        <p14:creationId xmlns:p14="http://schemas.microsoft.com/office/powerpoint/2010/main" val="16377744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E24D80-AFF4-41F7-AA4C-12F9B0EE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การเตรียมพร้อม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B5A9C6-3738-4466-A384-AA0B87CE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การประเมินภัยและความพร้อมของทรัพยากร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603E26-764B-4E4F-8A14-D9552F52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922D4C-5943-4409-AF4B-AAB30F22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ภาพรวมระบบ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3243FB-96CC-47FC-90EB-92BB4498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1BD036-E8BE-4523-B10E-B63E30BE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ระบบวางข้อมูลภัยบนแผนที่ แล้วคำนวณสิ่งที่ต้องใช้เทียบกับสิ่งที่พร้อมจริง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D6C516-BBAA-4693-92D2-B2654F8D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76500"/>
            <a:ext cx="328612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F3505A-B237-4C68-A4E4-59082786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781300"/>
            <a:ext cx="2828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พื้นที่กระทบ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FA7B01-6534-4949-8D15-BABACC36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29000"/>
            <a:ext cx="2714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วาดขอบเขตหรือใช้พื้นที่จากเหตุ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ตรวจสถานที่สำคัญและประชากร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0F2678-06D3-4CBB-9A5D-72913711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76500"/>
            <a:ext cx="328612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AE776D-9C76-4954-97C6-71B77788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81300"/>
            <a:ext cx="2828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กฎทรัพยากร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88F5E5-F60F-414A-A1B5-D32F06A5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29000"/>
            <a:ext cx="2714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rPr>
              <a:t>กำหนดเงื่อนไขตามประเภทภัย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rPr>
              <a:t>คำนวณทีม อุปกรณ์ และวัสดุ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EFAEE7-59E7-4385-98EB-CA18D794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328612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B12576-2E3C-4F3B-A2A4-C799DA89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781300"/>
            <a:ext cx="2828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แผนรับมือ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8045EB-7B7A-41F2-95E6-9B7B8740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429000"/>
            <a:ext cx="2714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จัดเก็บหลาย Version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เลือกฉบับพร้อมใช้และปรับตามสถานการณ์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DDFB3B-42E9-458A-8DB6-B21F5078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477125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97081A-CD2D-413F-9C20-78ABBF48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43125"/>
            <a:ext cx="54292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A88C06-2ED4-47E3-A60A-8549481083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9cda00b44d4eb3"/>
          <a:srcRect xmlns:a="http://schemas.openxmlformats.org/drawingml/2006/main" l="0" t="130" r="0" b="1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2238375"/>
            <a:ext cx="5238750" cy="2857500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AC2132-6BDD-4E55-B44E-BD705D1E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72025"/>
            <a:ext cx="523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476855-62BB-4749-AA86-DF9BB873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00600"/>
            <a:ext cx="501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ประเมินพื้นที่กระทบและทรัพยากร</a:t>
            </a:r>
          </a:p>
        </p:txBody>
      </p:sp>
    </p:spTree>
    <p:extLst>
      <p:ext uri="{BB962C8B-B14F-4D97-AF65-F5344CB8AC3E}">
        <p14:creationId xmlns:p14="http://schemas.microsoft.com/office/powerpoint/2010/main" val="20686296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918211-D7C4-40B7-9AE9-7CD9FF6B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โครงสร้างข้อมูล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403AA1-1A9D-4208-9CB3-14417075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ข้อมูล แผนที่ และ AI ทำงานบนฐานสิทธิ์เดียวกัน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31CFFD-88CC-4C1B-ACC9-A369B461A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9C0E47-5E3A-4EEC-AD05-CBA72EBA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ภาพรวมระบบ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028A64-B9DF-418A-9352-5869B18C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D4AF79-AC0D-433A-BB61-1234DBE3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ข้อมูลเชิงพื้นที่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F67349-BE8D-420B-98DD-08F5271D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668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ข้อมูลปฏิบัติการ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7467C1-350D-4452-AF8E-F1AD964B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668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rPr>
              <a:t>เครื่องมือวิเคราะห์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2A2036-0429-438F-BD2F-E236D371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2857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BF80EE-3548-473C-848E-3912414F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38375"/>
            <a:ext cx="2857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9E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8D2197-2AC3-4806-9CC8-5B1B0E61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38375"/>
            <a:ext cx="2857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9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FA5261-DDD2-4249-A4F6-F80C9DB9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228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602"/>
          </a:bodyPr>
          <a:lstStyle xmlns:a="http://schemas.openxmlformats.org/drawingml/2006/main">
            <a:defPPr algn="ctr"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PostGIS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ขอบเขตและการคำนวณพื้นที่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แผนที่ฐานและชั้นข้อมูล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2DC9A4-004A-4EFA-86BF-DA0D162E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71750"/>
            <a:ext cx="2286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450"/>
          </a:bodyPr>
          <a:lstStyle xmlns:a="http://schemas.openxmlformats.org/drawingml/2006/main">
            <a:defPPr algn="ctr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Mongoid และฐานข้อมูลระบบ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เหตุการณ์ เซนเซอร์ แผน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ชุดข้อมูลและประวัติการทำงาน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9EA412-6224-42A9-A71E-6D36A6D7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67000"/>
            <a:ext cx="228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866"/>
          </a:bodyPr>
          <a:lstStyle xmlns:a="http://schemas.openxmlformats.org/drawingml/2006/main">
            <a:defPPr algn="ctr"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ผู้ช่วย AI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สรุปข้อมูลที่ผู้ใช้มีสิทธิ์เห็น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เก็บและรันผลวิเคราะห์ใหม่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869B0C-8FFF-4BD8-A9D7-B68B34DA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530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API และบริการนำเข้าช่วยเชื่อมข้อมูลจากภายนอก โดยระบบยังคงตรวจสอบขอบเขตการเข้าถึง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66AE9B-EF98-4866-9BB5-23AE4487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738187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DC30FD-C1B0-49A3-9CB4-4BD00B31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14875"/>
            <a:ext cx="111442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81CBF8-2B33-435E-80B8-FEB3E43D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43125"/>
            <a:ext cx="48577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589BBF-D593-4636-8982-17E392BC37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5e6c4ca250422b"/>
          <a:srcRect xmlns:a="http://schemas.openxmlformats.org/drawingml/2006/main" l="3798" t="0" r="379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2238375"/>
            <a:ext cx="4667250" cy="2762250"/>
          </a:xfrm>
          <a:prstGeom xmlns:a="http://schemas.openxmlformats.org/drawingml/2006/main" prst="roundRect">
            <a:avLst>
              <a:gd name="adj" fmla="val 2759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B9E6C2-31B3-43AE-8E8C-98F76E4D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76775"/>
            <a:ext cx="466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B36721-C681-4300-9A3D-11F7AC29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705350"/>
            <a:ext cx="443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ผู้ช่วย AI วิเคราะห์ข้อมูลตามสิทธิ์</a:t>
            </a:r>
          </a:p>
        </p:txBody>
      </p:sp>
    </p:spTree>
    <p:extLst>
      <p:ext uri="{BB962C8B-B14F-4D97-AF65-F5344CB8AC3E}">
        <p14:creationId xmlns:p14="http://schemas.microsoft.com/office/powerpoint/2010/main" val="9281255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251F5F-DBE8-42D6-BD9E-467E6093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คุณค่าของระบบ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E38180-C21D-420F-814D-C2AE2436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ประโยชน์ที่ผู้บริหารและทีมปฏิบัติการได้รับ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314F1D-B8F2-4977-B182-703FDF28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1CC18F-DCC2-49C7-A774-21AD7E41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ภาพรวมระบบ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A17697-E849-4D05-8FEB-9510A3D4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364F33-CDF9-40E2-94F9-29F56A98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30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30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30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30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30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30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30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30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30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30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30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30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ภาพเดียว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3D4909-B5AC-4C34-B523-01B2A99F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เห็นสถานการณ์ พื้นที่ และงานค้างร่วมกัน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6739F3-F717-41D3-AD84-B5BB4E0F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097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ขั้นตอนเดียว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822874-3355-48C1-9F58-F5352A891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622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25"/>
          </a:bodyPr>
          <a:lstStyle xmlns:a="http://schemas.openxmlformats.org/drawingml/2006/main">
            <a:def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เชื่อมรับแจ้ง ประเมิน มอบหมาย และติดตาม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600BE5-6E30-4A06-A695-4E7AD3B3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pPr>
            <a:r>
              <a: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rPr>
              <a:t>ข้อมูลต่อเนื่อง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604334-2EA2-489F-B5A2-2142FEEE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622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208"/>
          </a:bodyPr>
          <a:lstStyle xmlns:a="http://schemas.openxmlformats.org/drawingml/2006/main">
            <a:def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เก็บประวัติ รุ่นข้อมูล และผลวิเคราะห์เพื่อใช้ซ้ำ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DFDC4D-4105-483D-A06A-519016BF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9500"/>
            <a:ext cx="99060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479ED8-4F0A-4063-9CB8-83BE7F6F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0525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ผลลัพธ์ที่คาดหวัง คือการตัดสินใจที่อ้างอิงข้อมูลล่าสุด ลดเวลาประสานงาน และอธิบายสถานการณ์ต่อผู้เกี่ยวข้องได้ชัดเจนขึ้น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20630A-DA93-4E99-80F6-0C103E80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00375"/>
            <a:ext cx="1076325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07058B-D7EF-42E0-8B17-1B9C23CF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67125"/>
            <a:ext cx="4381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งบประมาณและสถานะโครงการเชื่อมกับตำแหน่งบนแผนที่ เพื่อให้ผู้บริหารติดตามภาพรวมได้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A65062-E926-4C99-A52F-29888C9E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48000"/>
            <a:ext cx="5334000" cy="3190875"/>
          </a:xfrm>
          <a:prstGeom xmlns:a="http://schemas.openxmlformats.org/drawingml/2006/main" prst="roundRect">
            <a:avLst>
              <a:gd name="adj" fmla="val 3582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524224-4D53-4BC0-877B-E556658090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fc0f68f29f4cb8"/>
          <a:srcRect xmlns:a="http://schemas.openxmlformats.org/drawingml/2006/main" l="0" t="1746" r="0" b="17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3143250"/>
            <a:ext cx="5143500" cy="2714625"/>
          </a:xfrm>
          <a:prstGeom xmlns:a="http://schemas.openxmlformats.org/drawingml/2006/main" prst="roundRect">
            <a:avLst>
              <a:gd name="adj" fmla="val 2807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3FE1FA-B490-4D18-B24D-0AA84EC7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34025"/>
            <a:ext cx="514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74555E-9839-4605-B520-FEE6BD16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62600"/>
            <a:ext cx="491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ติดตามงบประมาณและความคืบหน้าโครงการ</a:t>
            </a:r>
          </a:p>
        </p:txBody>
      </p:sp>
    </p:spTree>
    <p:extLst>
      <p:ext uri="{BB962C8B-B14F-4D97-AF65-F5344CB8AC3E}">
        <p14:creationId xmlns:p14="http://schemas.microsoft.com/office/powerpoint/2010/main" val="19769373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2CF498-B01C-4772-9B8B-5A566964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สถานการณ์ตัวอย่าง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7A9766-1CB7-4383-8EAD-C4F24018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ตัวอย่างการใช้งานเมื่อเกิดน้ำท่วมฉับพลัน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8DD26E-3E49-4590-B465-F58EAB9C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968025-D30F-4DCF-95A1-6E145EAC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ภาพรวมระบบ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96EECC-A5BE-49DF-81BF-B7AE033E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BE964C-47FB-41AB-8137-3C43BD98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9A8E51-9F2B-494E-913B-EDA750CB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809750"/>
            <a:ext cx="2095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8853FB-41B3-462E-8283-12B617A92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2724A3-014E-4B3E-9230-3E682ED6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761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ประชาชนแจ้งเหตุ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FBC830-7CC0-457E-B671-8FB4AE5B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669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13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ส่งข้อมูลและตำแหน่งผ่านลิงก์สาธารณะ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EE0E08-C77C-4F4F-9A45-71F45400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EA9028-C741-4008-A28B-2E69272B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809750"/>
            <a:ext cx="2095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0A68D6-9FBA-4910-82D1-6D54C4F3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0822FE-52E6-4C43-906E-756C2479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9240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เจ้าหน้าที่รับเรื่อง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A9D012-31B5-447A-AC25-C59413FF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669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55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ตรวจรายละเอียดและกำหนดความเร่งด่วน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01FD6E-F7C1-4429-BB83-83DEA742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D41B76-53F9-48E5-9564-7904F4F9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09750"/>
            <a:ext cx="2095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9078F3-F7F5-445A-BB4A-CEACC380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C45CCD-9DD6-4AB1-9355-D76897A7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9240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ประเมินพื้นที่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790308-229D-4DC2-8F7F-DA4AC1EE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2669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09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ดูขอบเขตกระทบ ประชากร และสถานที่สำคัญ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E9937F-BC5E-414C-8228-EAF73F7E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6BBACF-5839-4F59-A925-5ED1DBC7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809750"/>
            <a:ext cx="2095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832BCC-8B6B-45BD-AFC2-3AC80323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9210BE-6657-47A4-AAB3-40F785ED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9240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287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จัดทีมและอุปกรณ์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64042E-07C6-445E-9050-EF3BCF48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2669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937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เทียบความต้องการกับทรัพยากรพร้อมใช้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C668D1-AB08-4CF7-8240-9C269312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809750"/>
            <a:ext cx="2095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C20B0F-4EEB-4761-B8B2-7437A1C6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76C2E4-F5D7-46ED-A015-48F43DDA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9240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618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ติดตามและสื่อสาร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DA6475-7849-4ADA-84AE-2A029DA66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2669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777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อัปเดตงาน ส่งแจ้งเตือน และปิดเหตุ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761DEB-56E6-4DF6-9457-A287B2599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00500"/>
            <a:ext cx="895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9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9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9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9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9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9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9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9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9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9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9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ผู้บริหารเห็นสถานะเดียวกับทีมภาคสนาม ขณะที่ประชาชนได้รับข้อมูลจากช่องทางที่หน่วยงานกำหนด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640F4A-0818-439F-B5B3-85552B2A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86375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ระบบพร้อมขยายจากการรับมือเหตุ ไปสู่การเตรียมแผนและจัดการข้อมูลพื้นที่อย่างต่อเนื่อง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D4C69A-455E-4C1B-B220-44D4C883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14625"/>
            <a:ext cx="111918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D20E81-4908-4509-837F-6E08E823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ประชาชนส่งรายละเอียดและตำแหน่ง</a:t>
            </a:r>
          </a:p>
          <a:p xmlns:a="http://schemas.openxmlformats.org/drawingml/2006/main">
            <a: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เจ้าหน้าที่รับเรื่อง ประเมิน และติดตามจนปิดเหตุ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6F9E79C-FC06-494A-85E7-2011338F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8577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60459C-FB7C-42A6-AC5F-A008DF8A6B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e0d1e73a3945c2"/>
          <a:srcRect xmlns:a="http://schemas.openxmlformats.org/drawingml/2006/main" l="5339" t="0" r="533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2952750"/>
            <a:ext cx="4667250" cy="2857500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CBCC55-F4B7-442E-97CD-C3817F91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86400"/>
            <a:ext cx="466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64BC8F0-A3E6-45B5-AEE9-79A4C93C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514975"/>
            <a:ext cx="443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แบบฟอร์มแจ้งเหตุสำหรับประชาชน</a:t>
            </a:r>
          </a:p>
        </p:txBody>
      </p:sp>
    </p:spTree>
    <p:extLst>
      <p:ext uri="{BB962C8B-B14F-4D97-AF65-F5344CB8AC3E}">
        <p14:creationId xmlns:p14="http://schemas.microsoft.com/office/powerpoint/2010/main" val="5374291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2026-10-28T23:38:06.5110000Z</dcterms:created>
  <dcterms:modified xsi:type="dcterms:W3CDTF">2026-10-28T23:38:06.5110000Z</dcterms:modified>
</coreProperties>
</file>